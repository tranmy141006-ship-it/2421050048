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máy chủ web và email là hai dịch vụ bị tấn công nhiều nhất. Bài trình bày gồm năm phần: bảo mật máy chủ, xác thực, bảo mật Web, bảo mật Email, và SSL/TLS làm nền tảng mã hóa. Điền tên người trình bày vào dòng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 gồm bảo mật, toàn vẹn, sẵn sàng. Năm trụ cột IA của Bộ Quốc phòng Hoa Kỳ bổ sung xác thực và không thể chối bỏ.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FTPS khác SFTP: FTPS là FTP chạy trên TLS, còn SFTP chạy trên 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người dùng đăng nhập với AS để lấy TGT; đưa TGT cho TGS để lấy vé dịch vụ; trình vé cho máy chủ dịch vụ. KDC là điểm tập trung rủi ro nên cần bảo vệ nghiêm ngặt.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5"/>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38150"/>
          </a:xfrm>
          <a:prstGeom prst="rect">
            <a:avLst/>
          </a:prstGeom>
          <a:noFill/>
        </p:spPr>
        <p:txBody>
          <a:bodyPr wrap="square" lIns="0" tIns="0" rIns="0" bIns="0" rtlCol="0" anchor="t"/>
          <a:lstStyle>
            <a:lvl1pPr marL="0" indent="0" algn="l">
              <a:lnSpc>
                <a:spcPct val="115000"/>
              </a:lnSpc>
              <a:buNone/>
              <a:defRPr lang="en-US" sz="3000" dirty="0">
                <a:solidFill>
                  <a:srgbClr val="1B2A38"/>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3000" dirty="0"/>
          </a:p>
        </p:txBody>
      </p:sp>
      <p:sp>
        <p:nvSpPr>
          <p:cNvPr id="3" name="Text Placeholder 2"/>
          <p:cNvSpPr/>
          <p:nvPr>
            <p:ph type="body" idx="101"/>
          </p:nvPr>
        </p:nvSpPr>
        <p:spPr>
          <a:xfrm>
            <a:off x="812800" y="1845270"/>
            <a:ext cx="10566400" cy="4199930"/>
          </a:xfrm>
          <a:prstGeom prst="rect">
            <a:avLst/>
          </a:prstGeom>
          <a:noFill/>
        </p:spPr>
        <p:txBody>
          <a:bodyPr wrap="square" lIns="0" tIns="0" rIns="0" bIns="0" rtlCol="0" anchor="t"/>
          <a:lstStyle>
            <a:lvl1pPr marL="0" indent="0" algn="l">
              <a:lnSpc>
                <a:spcPct val="140000"/>
              </a:lnSpc>
              <a:buNone/>
              <a:defRPr lang="en-US" sz="1600" dirty="0">
                <a:solidFill>
                  <a:srgbClr val="1B2A38"/>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38150"/>
          </a:xfrm>
          <a:prstGeom prst="rect">
            <a:avLst/>
          </a:prstGeom>
          <a:noFill/>
        </p:spPr>
        <p:txBody>
          <a:bodyPr wrap="square" lIns="0" tIns="0" rIns="0" bIns="0" rtlCol="0" anchor="t"/>
          <a:lstStyle>
            <a:lvl1pPr marL="0" indent="0" algn="l">
              <a:lnSpc>
                <a:spcPct val="115000"/>
              </a:lnSpc>
              <a:buNone/>
              <a:defRPr lang="en-US" sz="3000" dirty="0">
                <a:solidFill>
                  <a:srgbClr val="1B2A38"/>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3000" dirty="0"/>
          </a:p>
        </p:txBody>
      </p:sp>
      <p:sp>
        <p:nvSpPr>
          <p:cNvPr id="3" name="Text Placeholder 2"/>
          <p:cNvSpPr/>
          <p:nvPr>
            <p:ph type="body" idx="101"/>
          </p:nvPr>
        </p:nvSpPr>
        <p:spPr>
          <a:xfrm>
            <a:off x="812800" y="1845270"/>
            <a:ext cx="10566400" cy="4199930"/>
          </a:xfrm>
          <a:prstGeom prst="rect">
            <a:avLst/>
          </a:prstGeom>
          <a:noFill/>
        </p:spPr>
        <p:txBody>
          <a:bodyPr wrap="square" lIns="0" tIns="0" rIns="0" bIns="0" rtlCol="0" anchor="t"/>
          <a:lstStyle>
            <a:lvl1pPr marL="0" indent="0" algn="l">
              <a:lnSpc>
                <a:spcPct val="140000"/>
              </a:lnSpc>
              <a:buNone/>
              <a:defRPr lang="en-US" sz="1600" dirty="0">
                <a:solidFill>
                  <a:srgbClr val="1B2A38"/>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E2E"/>
        </a:solidFill>
        <a:effectLst/>
      </p:bgPr>
    </p:bg>
    <p:spTree>
      <p:nvGrpSpPr>
        <p:cNvPr id="1" name=""/>
        <p:cNvGrpSpPr/>
        <p:nvPr/>
      </p:nvGrpSpPr>
      <p:grpSpPr>
        <a:xfrm>
          <a:off x="0" y="0"/>
          <a:ext cx="0" cy="0"/>
          <a:chOff x="0" y="0"/>
          <a:chExt cx="0" cy="0"/>
        </a:xfrm>
      </p:grpSpPr>
      <p:sp>
        <p:nvSpPr>
          <p:cNvPr id="2" name="Shape 0"/>
          <p:cNvSpPr/>
          <p:nvPr/>
        </p:nvSpPr>
        <p:spPr>
          <a:xfrm>
            <a:off x="7620000" y="889000"/>
            <a:ext cx="4064000" cy="4064000"/>
          </a:xfrm>
          <a:prstGeom prst="roundRect">
            <a:avLst>
              <a:gd name="adj" fmla="val 40000"/>
            </a:avLst>
          </a:prstGeom>
          <a:gradFill rotWithShape="1">
            <a:gsLst>
              <a:gs pos="0">
                <a:srgbClr val="17475A"/>
              </a:gs>
              <a:gs pos="70000">
                <a:srgbClr val="0F1E2E"/>
              </a:gs>
            </a:gsLst>
            <a:path path="circle">
              <a:fillToRect l="50000" t="50000" r="50000" b="50000"/>
            </a:path>
          </a:gradFill>
        </p:spPr>
      </p:sp>
      <p:pic>
        <p:nvPicPr>
          <p:cNvPr id="3" name="Image 0" descr="Lock"/>
          <p:cNvPicPr>
            <a:picLocks noChangeAspect="1"/>
          </p:cNvPicPr>
          <p:nvPr/>
        </p:nvPicPr>
        <p:blipFill>
          <a:blip r:embed="rId1"/>
          <a:srcRect/>
          <a:stretch>
            <a:fillRect/>
          </a:stretch>
        </p:blipFill>
        <p:spPr>
          <a:xfrm>
            <a:off x="8763000" y="2032000"/>
            <a:ext cx="1778000" cy="1778000"/>
          </a:xfrm>
          <a:prstGeom prst="rect">
            <a:avLst/>
          </a:prstGeom>
        </p:spPr>
      </p:pic>
      <p:sp>
        <p:nvSpPr>
          <p:cNvPr id="4" name="Text 1"/>
          <p:cNvSpPr/>
          <p:nvPr/>
        </p:nvSpPr>
        <p:spPr>
          <a:xfrm>
            <a:off x="812800" y="1828866"/>
            <a:ext cx="10883392" cy="274307"/>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2DD4BF"/>
                </a:solidFill>
                <a:latin typeface="Arial" panose="020B0604020202020204" pitchFamily="34" charset="0"/>
                <a:ea typeface="Arial" panose="020B0604020202020204" pitchFamily="34" charset="-122"/>
                <a:cs typeface="Arial" panose="020B0604020202020204" pitchFamily="34" charset="-120"/>
              </a:rPr>
              <a:t>KỸ THUẬT VÀ ỨNG DỤNG AN NINH MẠNG</a:t>
            </a:r>
            <a:endParaRPr lang="en-US" sz="1400" dirty="0"/>
          </a:p>
        </p:txBody>
      </p:sp>
      <p:sp>
        <p:nvSpPr>
          <p:cNvPr id="5" name="Text 2"/>
          <p:cNvSpPr/>
          <p:nvPr>
            <p:ph type="title"/>
          </p:nvPr>
        </p:nvSpPr>
        <p:spPr>
          <a:xfrm>
            <a:off x="812800" y="2280973"/>
            <a:ext cx="7194550" cy="1478227"/>
          </a:xfrm>
          <a:prstGeom prst="rect">
            <a:avLst/>
          </a:prstGeom>
          <a:noFill/>
        </p:spPr>
        <p:txBody>
          <a:bodyPr wrap="square" lIns="0" tIns="0" rIns="0" bIns="0" rtlCol="0" anchor="t">
            <a:normAutofit/>
          </a:bodyPr>
          <a:lstStyle/>
          <a:p>
            <a:pPr marL="0" indent="0" algn="l">
              <a:lnSpc>
                <a:spcPts val="5720"/>
              </a:lnSpc>
              <a:buNone/>
            </a:pPr>
            <a:r>
              <a:rPr lang="en-US" sz="5200" b="1" i="0" dirty="0">
                <a:solidFill>
                  <a:srgbClr val="EAF1F6"/>
                </a:solidFill>
                <a:latin typeface="Arial" panose="020B0604020202020204" pitchFamily="34" charset="0"/>
                <a:ea typeface="Arial" panose="020B0604020202020204" pitchFamily="34" charset="-122"/>
                <a:cs typeface="Arial" panose="020B0604020202020204" pitchFamily="34" charset="-120"/>
              </a:rPr>
              <a:t>Bảo mật máy chủ Web và Email</a:t>
            </a:r>
            <a:endParaRPr lang="en-US" sz="5200" dirty="0"/>
          </a:p>
        </p:txBody>
      </p:sp>
      <p:sp>
        <p:nvSpPr>
          <p:cNvPr id="6" name="Text 3"/>
          <p:cNvSpPr/>
          <p:nvPr/>
        </p:nvSpPr>
        <p:spPr>
          <a:xfrm>
            <a:off x="812800" y="3937000"/>
            <a:ext cx="6540500" cy="665427"/>
          </a:xfrm>
          <a:prstGeom prst="rect">
            <a:avLst/>
          </a:prstGeom>
          <a:noFill/>
        </p:spPr>
        <p:txBody>
          <a:bodyPr wrap="square" lIns="0" tIns="0" rIns="0" bIns="0" rtlCol="0" anchor="t">
            <a:normAutofit/>
          </a:bodyPr>
          <a:lstStyle/>
          <a:p>
            <a:pPr marL="0" indent="0" algn="l">
              <a:lnSpc>
                <a:spcPts val="2520"/>
              </a:lnSpc>
              <a:buNone/>
            </a:pPr>
            <a:r>
              <a:rPr lang="en-US" sz="1800" dirty="0">
                <a:solidFill>
                  <a:srgbClr val="B7C6D4"/>
                </a:solidFill>
                <a:latin typeface="Arial" panose="020B0604020202020204" pitchFamily="34" charset="0"/>
                <a:ea typeface="Arial" panose="020B0604020202020204" pitchFamily="34" charset="-122"/>
                <a:cs typeface="Arial" panose="020B0604020202020204" pitchFamily="34" charset="-120"/>
              </a:rPr>
              <a:t>Bảo mật máy chủ · Phương pháp xác thực · Bảo mật Web · Bảo mật Email</a:t>
            </a:r>
            <a:endParaRPr lang="en-US" sz="1800" dirty="0"/>
          </a:p>
        </p:txBody>
      </p:sp>
      <p:sp>
        <p:nvSpPr>
          <p:cNvPr id="7" name="Text 4"/>
          <p:cNvSpPr/>
          <p:nvPr/>
        </p:nvSpPr>
        <p:spPr>
          <a:xfrm>
            <a:off x="812800" y="4780280"/>
            <a:ext cx="10883265" cy="1718945"/>
          </a:xfrm>
          <a:prstGeom prst="rect">
            <a:avLst/>
          </a:prstGeom>
          <a:noFill/>
        </p:spPr>
        <p:txBody>
          <a:bodyPr wrap="square" lIns="0" tIns="0" rIns="0" bIns="0" rtlCol="0" anchor="t">
            <a:normAutofit/>
          </a:bodyPr>
          <a:lstStyle/>
          <a:p>
            <a:pPr marL="0" indent="0" algn="l">
              <a:lnSpc>
                <a:spcPts val="1960"/>
              </a:lnSpc>
              <a:buNone/>
            </a:pP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Thành viên </a:t>
            </a: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nhóm </a:t>
            </a: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9:</a:t>
            </a:r>
            <a:endPar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endParaRPr>
          </a:p>
          <a:p>
            <a:pPr marL="0" indent="0" algn="l">
              <a:lnSpc>
                <a:spcPts val="1960"/>
              </a:lnSpc>
              <a:buNone/>
            </a:pP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   - Nguyễn Thành Công (</a:t>
            </a: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28)</a:t>
            </a:r>
            <a:endPar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endParaRPr>
          </a:p>
          <a:p>
            <a:pPr marL="0" indent="0" algn="l">
              <a:lnSpc>
                <a:spcPts val="1960"/>
              </a:lnSpc>
              <a:buNone/>
            </a:pP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   - Nguyễn Thành Công (</a:t>
            </a: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88)</a:t>
            </a:r>
            <a:endPar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endParaRPr>
          </a:p>
          <a:p>
            <a:pPr marL="0" indent="0" algn="l">
              <a:lnSpc>
                <a:spcPts val="1960"/>
              </a:lnSpc>
              <a:buNone/>
            </a:pP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   - Trần Hương </a:t>
            </a: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My</a:t>
            </a:r>
            <a:endPar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endParaRPr>
          </a:p>
          <a:p>
            <a:pPr marL="0" indent="0" algn="l">
              <a:lnSpc>
                <a:spcPts val="1960"/>
              </a:lnSpc>
              <a:buNone/>
            </a:pP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   - Nguyễn Văn </a:t>
            </a:r>
            <a:r>
              <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rPr>
              <a:t>Việt</a:t>
            </a:r>
            <a:endParaRPr lang="vi-VN" altLang="en-US" sz="1400" dirty="0">
              <a:solidFill>
                <a:srgbClr val="8FA3B5"/>
              </a:solidFill>
              <a:latin typeface="Arial" panose="020B0604020202020204" pitchFamily="34" charset="0"/>
              <a:ea typeface="Arial" panose="020B0604020202020204" pitchFamily="34" charset="-122"/>
              <a:cs typeface="Arial" panose="020B060402020202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NỘI DUNG</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vi-VN" alt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P</a:t>
            </a: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hần bài trình bày</a:t>
            </a:r>
            <a:endParaRPr lang="en-US" sz="3000" dirty="0"/>
          </a:p>
        </p:txBody>
      </p:sp>
      <p:sp>
        <p:nvSpPr>
          <p:cNvPr id="4" name="Shape 2"/>
          <p:cNvSpPr/>
          <p:nvPr/>
        </p:nvSpPr>
        <p:spPr>
          <a:xfrm>
            <a:off x="815975" y="1797645"/>
            <a:ext cx="3414183" cy="1941182"/>
          </a:xfrm>
          <a:prstGeom prst="roundRect">
            <a:avLst>
              <a:gd name="adj" fmla="val 5070"/>
            </a:avLst>
          </a:prstGeom>
          <a:solidFill>
            <a:srgbClr val="FFFFFF"/>
          </a:solidFill>
          <a:ln w="6350">
            <a:solidFill>
              <a:srgbClr val="DCE3E1"/>
            </a:solidFill>
            <a:prstDash val="solid"/>
          </a:ln>
        </p:spPr>
      </p:sp>
      <p:sp>
        <p:nvSpPr>
          <p:cNvPr id="5" name="Text 3"/>
          <p:cNvSpPr/>
          <p:nvPr/>
        </p:nvSpPr>
        <p:spPr>
          <a:xfrm>
            <a:off x="1045633" y="2027304"/>
            <a:ext cx="3043513" cy="594320"/>
          </a:xfrm>
          <a:prstGeom prst="rect">
            <a:avLst/>
          </a:prstGeom>
          <a:noFill/>
        </p:spPr>
        <p:txBody>
          <a:bodyPr wrap="square" lIns="0" tIns="0" rIns="0" bIns="0" rtlCol="0" anchor="t">
            <a:normAutofit/>
          </a:bodyPr>
          <a:lstStyle/>
          <a:p>
            <a:pPr marL="0" indent="0" algn="l">
              <a:lnSpc>
                <a:spcPts val="4480"/>
              </a:lnSpc>
              <a:buNone/>
            </a:pPr>
            <a:r>
              <a:rPr lang="en-US" sz="3200" b="1" dirty="0">
                <a:solidFill>
                  <a:srgbClr val="0B7A6E"/>
                </a:solidFill>
                <a:latin typeface="Arial" panose="020B0604020202020204" pitchFamily="34" charset="0"/>
                <a:ea typeface="Arial" panose="020B0604020202020204" pitchFamily="34" charset="-122"/>
                <a:cs typeface="Arial" panose="020B0604020202020204" pitchFamily="34" charset="-120"/>
              </a:rPr>
              <a:t>01</a:t>
            </a:r>
            <a:endParaRPr lang="en-US" sz="3200" dirty="0"/>
          </a:p>
        </p:txBody>
      </p:sp>
      <p:sp>
        <p:nvSpPr>
          <p:cNvPr id="6" name="Text 4"/>
          <p:cNvSpPr/>
          <p:nvPr/>
        </p:nvSpPr>
        <p:spPr>
          <a:xfrm>
            <a:off x="1045633" y="2952948"/>
            <a:ext cx="3043513"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B2A38"/>
                </a:solidFill>
                <a:latin typeface="Arial" panose="020B0604020202020204" pitchFamily="34" charset="0"/>
                <a:ea typeface="Arial" panose="020B0604020202020204" pitchFamily="34" charset="-122"/>
                <a:cs typeface="Arial" panose="020B0604020202020204" pitchFamily="34" charset="-120"/>
              </a:rPr>
              <a:t>Bảo mật máy chủ</a:t>
            </a:r>
            <a:endParaRPr lang="en-US" sz="1800" dirty="0"/>
          </a:p>
        </p:txBody>
      </p:sp>
      <p:sp>
        <p:nvSpPr>
          <p:cNvPr id="7" name="Text 5"/>
          <p:cNvSpPr/>
          <p:nvPr/>
        </p:nvSpPr>
        <p:spPr>
          <a:xfrm>
            <a:off x="1045633" y="3278056"/>
            <a:ext cx="3181350"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865"/>
                </a:solidFill>
                <a:latin typeface="Arial" panose="020B0604020202020204" pitchFamily="34" charset="0"/>
                <a:ea typeface="Arial" panose="020B0604020202020204" pitchFamily="34" charset="-122"/>
                <a:cs typeface="Arial" panose="020B0604020202020204" pitchFamily="34" charset="-120"/>
              </a:rPr>
              <a:t>Kết nối, người dùng, mật khẩu, củng cố</a:t>
            </a:r>
            <a:endParaRPr lang="en-US" sz="1300" dirty="0"/>
          </a:p>
        </p:txBody>
      </p:sp>
      <p:sp>
        <p:nvSpPr>
          <p:cNvPr id="8" name="Shape 6"/>
          <p:cNvSpPr/>
          <p:nvPr/>
        </p:nvSpPr>
        <p:spPr>
          <a:xfrm>
            <a:off x="4388908" y="1797645"/>
            <a:ext cx="3414183" cy="1941182"/>
          </a:xfrm>
          <a:prstGeom prst="roundRect">
            <a:avLst>
              <a:gd name="adj" fmla="val 5070"/>
            </a:avLst>
          </a:prstGeom>
          <a:solidFill>
            <a:srgbClr val="FFFFFF"/>
          </a:solidFill>
          <a:ln w="6350">
            <a:solidFill>
              <a:srgbClr val="DCE3E1"/>
            </a:solidFill>
            <a:prstDash val="solid"/>
          </a:ln>
        </p:spPr>
      </p:sp>
      <p:sp>
        <p:nvSpPr>
          <p:cNvPr id="9" name="Text 7"/>
          <p:cNvSpPr/>
          <p:nvPr/>
        </p:nvSpPr>
        <p:spPr>
          <a:xfrm>
            <a:off x="4618567" y="2027304"/>
            <a:ext cx="3043513" cy="594320"/>
          </a:xfrm>
          <a:prstGeom prst="rect">
            <a:avLst/>
          </a:prstGeom>
          <a:noFill/>
        </p:spPr>
        <p:txBody>
          <a:bodyPr wrap="square" lIns="0" tIns="0" rIns="0" bIns="0" rtlCol="0" anchor="t">
            <a:normAutofit/>
          </a:bodyPr>
          <a:lstStyle/>
          <a:p>
            <a:pPr marL="0" indent="0" algn="l">
              <a:lnSpc>
                <a:spcPts val="4480"/>
              </a:lnSpc>
              <a:buNone/>
            </a:pPr>
            <a:r>
              <a:rPr lang="en-US" sz="3200" b="1" dirty="0">
                <a:solidFill>
                  <a:srgbClr val="0B7A6E"/>
                </a:solidFill>
                <a:latin typeface="Arial" panose="020B0604020202020204" pitchFamily="34" charset="0"/>
                <a:ea typeface="Arial" panose="020B0604020202020204" pitchFamily="34" charset="-122"/>
                <a:cs typeface="Arial" panose="020B0604020202020204" pitchFamily="34" charset="-120"/>
              </a:rPr>
              <a:t>02</a:t>
            </a:r>
            <a:endParaRPr lang="en-US" sz="3200" dirty="0"/>
          </a:p>
        </p:txBody>
      </p:sp>
      <p:sp>
        <p:nvSpPr>
          <p:cNvPr id="10" name="Text 8"/>
          <p:cNvSpPr/>
          <p:nvPr/>
        </p:nvSpPr>
        <p:spPr>
          <a:xfrm>
            <a:off x="4618567" y="2952948"/>
            <a:ext cx="3043513"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B2A38"/>
                </a:solidFill>
                <a:latin typeface="Arial" panose="020B0604020202020204" pitchFamily="34" charset="0"/>
                <a:ea typeface="Arial" panose="020B0604020202020204" pitchFamily="34" charset="-122"/>
                <a:cs typeface="Arial" panose="020B0604020202020204" pitchFamily="34" charset="-120"/>
              </a:rPr>
              <a:t>Phương pháp xác thực</a:t>
            </a:r>
            <a:endParaRPr lang="en-US" sz="1800" dirty="0"/>
          </a:p>
        </p:txBody>
      </p:sp>
      <p:sp>
        <p:nvSpPr>
          <p:cNvPr id="11" name="Text 9"/>
          <p:cNvSpPr/>
          <p:nvPr/>
        </p:nvSpPr>
        <p:spPr>
          <a:xfrm>
            <a:off x="4618567" y="3278056"/>
            <a:ext cx="3043513"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865"/>
                </a:solidFill>
                <a:latin typeface="Arial" panose="020B0604020202020204" pitchFamily="34" charset="0"/>
                <a:ea typeface="Arial" panose="020B0604020202020204" pitchFamily="34" charset="-122"/>
                <a:cs typeface="Arial" panose="020B0604020202020204" pitchFamily="34" charset="-120"/>
              </a:rPr>
              <a:t>MFA, token, Kerberos, CHAP</a:t>
            </a:r>
            <a:endParaRPr lang="en-US" sz="1300" dirty="0"/>
          </a:p>
        </p:txBody>
      </p:sp>
      <p:sp>
        <p:nvSpPr>
          <p:cNvPr id="12" name="Shape 10"/>
          <p:cNvSpPr/>
          <p:nvPr/>
        </p:nvSpPr>
        <p:spPr>
          <a:xfrm>
            <a:off x="7961842" y="1797645"/>
            <a:ext cx="3414183" cy="1941182"/>
          </a:xfrm>
          <a:prstGeom prst="roundRect">
            <a:avLst>
              <a:gd name="adj" fmla="val 5070"/>
            </a:avLst>
          </a:prstGeom>
          <a:solidFill>
            <a:srgbClr val="FFFFFF"/>
          </a:solidFill>
          <a:ln w="6350">
            <a:solidFill>
              <a:srgbClr val="DCE3E1"/>
            </a:solidFill>
            <a:prstDash val="solid"/>
          </a:ln>
        </p:spPr>
      </p:sp>
      <p:sp>
        <p:nvSpPr>
          <p:cNvPr id="13" name="Text 11"/>
          <p:cNvSpPr/>
          <p:nvPr/>
        </p:nvSpPr>
        <p:spPr>
          <a:xfrm>
            <a:off x="8191500" y="2027304"/>
            <a:ext cx="3043513" cy="594320"/>
          </a:xfrm>
          <a:prstGeom prst="rect">
            <a:avLst/>
          </a:prstGeom>
          <a:noFill/>
        </p:spPr>
        <p:txBody>
          <a:bodyPr wrap="square" lIns="0" tIns="0" rIns="0" bIns="0" rtlCol="0" anchor="t">
            <a:normAutofit/>
          </a:bodyPr>
          <a:lstStyle/>
          <a:p>
            <a:pPr marL="0" indent="0" algn="l">
              <a:lnSpc>
                <a:spcPts val="4480"/>
              </a:lnSpc>
              <a:buNone/>
            </a:pPr>
            <a:r>
              <a:rPr lang="en-US" sz="3200" b="1" dirty="0">
                <a:solidFill>
                  <a:srgbClr val="0B7A6E"/>
                </a:solidFill>
                <a:latin typeface="Arial" panose="020B0604020202020204" pitchFamily="34" charset="0"/>
                <a:ea typeface="Arial" panose="020B0604020202020204" pitchFamily="34" charset="-122"/>
                <a:cs typeface="Arial" panose="020B0604020202020204" pitchFamily="34" charset="-120"/>
              </a:rPr>
              <a:t>03</a:t>
            </a:r>
            <a:endParaRPr lang="en-US" sz="3200" dirty="0"/>
          </a:p>
        </p:txBody>
      </p:sp>
      <p:sp>
        <p:nvSpPr>
          <p:cNvPr id="14" name="Text 12"/>
          <p:cNvSpPr/>
          <p:nvPr/>
        </p:nvSpPr>
        <p:spPr>
          <a:xfrm>
            <a:off x="8191500" y="2952948"/>
            <a:ext cx="3043513"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B2A38"/>
                </a:solidFill>
                <a:latin typeface="Arial" panose="020B0604020202020204" pitchFamily="34" charset="0"/>
                <a:ea typeface="Arial" panose="020B0604020202020204" pitchFamily="34" charset="-122"/>
                <a:cs typeface="Arial" panose="020B0604020202020204" pitchFamily="34" charset="-120"/>
              </a:rPr>
              <a:t>Bảo mật Web</a:t>
            </a:r>
            <a:endParaRPr lang="en-US" sz="1800" dirty="0"/>
          </a:p>
        </p:txBody>
      </p:sp>
      <p:sp>
        <p:nvSpPr>
          <p:cNvPr id="15" name="Text 13"/>
          <p:cNvSpPr/>
          <p:nvPr/>
        </p:nvSpPr>
        <p:spPr>
          <a:xfrm>
            <a:off x="8191500" y="3278056"/>
            <a:ext cx="3043513"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865"/>
                </a:solidFill>
                <a:latin typeface="Arial" panose="020B0604020202020204" pitchFamily="34" charset="0"/>
                <a:ea typeface="Arial" panose="020B0604020202020204" pitchFamily="34" charset="-122"/>
                <a:cs typeface="Arial" panose="020B0604020202020204" pitchFamily="34" charset="-120"/>
              </a:rPr>
              <a:t>Session, cookie, tấn công, WAF</a:t>
            </a:r>
            <a:endParaRPr lang="en-US" sz="1300" dirty="0"/>
          </a:p>
        </p:txBody>
      </p:sp>
      <p:sp>
        <p:nvSpPr>
          <p:cNvPr id="16" name="Shape 14"/>
          <p:cNvSpPr/>
          <p:nvPr/>
        </p:nvSpPr>
        <p:spPr>
          <a:xfrm>
            <a:off x="815975" y="3897578"/>
            <a:ext cx="3414183" cy="1941248"/>
          </a:xfrm>
          <a:prstGeom prst="roundRect">
            <a:avLst>
              <a:gd name="adj" fmla="val 5070"/>
            </a:avLst>
          </a:prstGeom>
          <a:solidFill>
            <a:srgbClr val="FFFFFF"/>
          </a:solidFill>
          <a:ln w="6350">
            <a:solidFill>
              <a:srgbClr val="DCE3E1"/>
            </a:solidFill>
            <a:prstDash val="solid"/>
          </a:ln>
        </p:spPr>
      </p:sp>
      <p:sp>
        <p:nvSpPr>
          <p:cNvPr id="17" name="Text 15"/>
          <p:cNvSpPr/>
          <p:nvPr/>
        </p:nvSpPr>
        <p:spPr>
          <a:xfrm>
            <a:off x="1045633" y="4127236"/>
            <a:ext cx="3043513" cy="594320"/>
          </a:xfrm>
          <a:prstGeom prst="rect">
            <a:avLst/>
          </a:prstGeom>
          <a:noFill/>
        </p:spPr>
        <p:txBody>
          <a:bodyPr wrap="square" lIns="0" tIns="0" rIns="0" bIns="0" rtlCol="0" anchor="t">
            <a:normAutofit/>
          </a:bodyPr>
          <a:lstStyle/>
          <a:p>
            <a:pPr marL="0" indent="0" algn="l">
              <a:lnSpc>
                <a:spcPts val="4480"/>
              </a:lnSpc>
              <a:buNone/>
            </a:pPr>
            <a:r>
              <a:rPr lang="en-US" sz="3200" b="1" dirty="0">
                <a:solidFill>
                  <a:srgbClr val="0B7A6E"/>
                </a:solidFill>
                <a:latin typeface="Arial" panose="020B0604020202020204" pitchFamily="34" charset="0"/>
                <a:ea typeface="Arial" panose="020B0604020202020204" pitchFamily="34" charset="-122"/>
                <a:cs typeface="Arial" panose="020B0604020202020204" pitchFamily="34" charset="-120"/>
              </a:rPr>
              <a:t>04</a:t>
            </a:r>
            <a:endParaRPr lang="en-US" sz="3200" dirty="0"/>
          </a:p>
        </p:txBody>
      </p:sp>
      <p:sp>
        <p:nvSpPr>
          <p:cNvPr id="18" name="Text 16"/>
          <p:cNvSpPr/>
          <p:nvPr/>
        </p:nvSpPr>
        <p:spPr>
          <a:xfrm>
            <a:off x="1045633" y="5052947"/>
            <a:ext cx="3043513"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B2A38"/>
                </a:solidFill>
                <a:latin typeface="Arial" panose="020B0604020202020204" pitchFamily="34" charset="0"/>
                <a:ea typeface="Arial" panose="020B0604020202020204" pitchFamily="34" charset="-122"/>
                <a:cs typeface="Arial" panose="020B0604020202020204" pitchFamily="34" charset="-120"/>
              </a:rPr>
              <a:t>Bảo mật Email</a:t>
            </a:r>
            <a:endParaRPr lang="en-US" sz="1800" dirty="0"/>
          </a:p>
        </p:txBody>
      </p:sp>
      <p:sp>
        <p:nvSpPr>
          <p:cNvPr id="19" name="Text 17"/>
          <p:cNvSpPr/>
          <p:nvPr/>
        </p:nvSpPr>
        <p:spPr>
          <a:xfrm>
            <a:off x="1045633" y="5378053"/>
            <a:ext cx="3043513"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865"/>
                </a:solidFill>
                <a:latin typeface="Arial" panose="020B0604020202020204" pitchFamily="34" charset="0"/>
                <a:ea typeface="Arial" panose="020B0604020202020204" pitchFamily="34" charset="-122"/>
                <a:cs typeface="Arial" panose="020B0604020202020204" pitchFamily="34" charset="-120"/>
              </a:rPr>
              <a:t>TLS, SPF, DKIM, DMARC</a:t>
            </a:r>
            <a:endParaRPr lang="en-US" sz="1300" dirty="0"/>
          </a:p>
        </p:txBody>
      </p:sp>
      <p:sp>
        <p:nvSpPr>
          <p:cNvPr id="20" name="Shape 18"/>
          <p:cNvSpPr/>
          <p:nvPr/>
        </p:nvSpPr>
        <p:spPr>
          <a:xfrm>
            <a:off x="4388908" y="3897578"/>
            <a:ext cx="3414183" cy="1941248"/>
          </a:xfrm>
          <a:prstGeom prst="roundRect">
            <a:avLst>
              <a:gd name="adj" fmla="val 5070"/>
            </a:avLst>
          </a:prstGeom>
          <a:solidFill>
            <a:srgbClr val="FFFFFF"/>
          </a:solidFill>
          <a:ln w="6350">
            <a:solidFill>
              <a:srgbClr val="DCE3E1"/>
            </a:solidFill>
            <a:prstDash val="solid"/>
          </a:ln>
        </p:spPr>
      </p:sp>
      <p:sp>
        <p:nvSpPr>
          <p:cNvPr id="21" name="Text 19"/>
          <p:cNvSpPr/>
          <p:nvPr/>
        </p:nvSpPr>
        <p:spPr>
          <a:xfrm>
            <a:off x="4618567" y="4127236"/>
            <a:ext cx="3043513" cy="594320"/>
          </a:xfrm>
          <a:prstGeom prst="rect">
            <a:avLst/>
          </a:prstGeom>
          <a:noFill/>
        </p:spPr>
        <p:txBody>
          <a:bodyPr wrap="square" lIns="0" tIns="0" rIns="0" bIns="0" rtlCol="0" anchor="t">
            <a:normAutofit/>
          </a:bodyPr>
          <a:lstStyle/>
          <a:p>
            <a:pPr marL="0" indent="0" algn="l">
              <a:lnSpc>
                <a:spcPts val="4480"/>
              </a:lnSpc>
              <a:buNone/>
            </a:pPr>
            <a:r>
              <a:rPr lang="en-US" sz="3200" b="1" dirty="0">
                <a:solidFill>
                  <a:srgbClr val="0B7A6E"/>
                </a:solidFill>
                <a:latin typeface="Arial" panose="020B0604020202020204" pitchFamily="34" charset="0"/>
                <a:ea typeface="Arial" panose="020B0604020202020204" pitchFamily="34" charset="-122"/>
                <a:cs typeface="Arial" panose="020B0604020202020204" pitchFamily="34" charset="-120"/>
              </a:rPr>
              <a:t>05</a:t>
            </a:r>
            <a:endParaRPr lang="en-US" sz="3200" dirty="0"/>
          </a:p>
        </p:txBody>
      </p:sp>
      <p:sp>
        <p:nvSpPr>
          <p:cNvPr id="22" name="Text 20"/>
          <p:cNvSpPr/>
          <p:nvPr/>
        </p:nvSpPr>
        <p:spPr>
          <a:xfrm>
            <a:off x="4618567" y="5052947"/>
            <a:ext cx="3043513"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B2A38"/>
                </a:solidFill>
                <a:latin typeface="Arial" panose="020B0604020202020204" pitchFamily="34" charset="0"/>
                <a:ea typeface="Arial" panose="020B0604020202020204" pitchFamily="34" charset="-122"/>
                <a:cs typeface="Arial" panose="020B0604020202020204" pitchFamily="34" charset="-120"/>
              </a:rPr>
              <a:t>SSL/TLS</a:t>
            </a:r>
            <a:endParaRPr lang="en-US" sz="1800" dirty="0"/>
          </a:p>
        </p:txBody>
      </p:sp>
      <p:sp>
        <p:nvSpPr>
          <p:cNvPr id="23" name="Text 21"/>
          <p:cNvSpPr/>
          <p:nvPr/>
        </p:nvSpPr>
        <p:spPr>
          <a:xfrm>
            <a:off x="4618567" y="5378053"/>
            <a:ext cx="3043513"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865"/>
                </a:solidFill>
                <a:latin typeface="Arial" panose="020B0604020202020204" pitchFamily="34" charset="0"/>
                <a:ea typeface="Arial" panose="020B0604020202020204" pitchFamily="34" charset="-122"/>
                <a:cs typeface="Arial" panose="020B0604020202020204" pitchFamily="34" charset="-120"/>
              </a:rPr>
              <a:t>Handshake, chứng chỉ, cipher suite</a:t>
            </a:r>
            <a:endParaRPr lang="en-US" sz="1300" dirty="0"/>
          </a:p>
        </p:txBody>
      </p:sp>
      <p:sp>
        <p:nvSpPr>
          <p:cNvPr id="24" name="Shape 22"/>
          <p:cNvSpPr/>
          <p:nvPr/>
        </p:nvSpPr>
        <p:spPr>
          <a:xfrm>
            <a:off x="7961842" y="3897578"/>
            <a:ext cx="3414183" cy="1941248"/>
          </a:xfrm>
          <a:prstGeom prst="roundRect">
            <a:avLst>
              <a:gd name="adj" fmla="val 5070"/>
            </a:avLst>
          </a:prstGeom>
          <a:solidFill>
            <a:srgbClr val="FFFFFF"/>
          </a:solidFill>
          <a:ln w="6350">
            <a:solidFill>
              <a:srgbClr val="DCE3E1"/>
            </a:solidFill>
            <a:prstDash val="solid"/>
          </a:ln>
        </p:spPr>
      </p:sp>
      <p:sp>
        <p:nvSpPr>
          <p:cNvPr id="25" name="Text 23"/>
          <p:cNvSpPr/>
          <p:nvPr/>
        </p:nvSpPr>
        <p:spPr>
          <a:xfrm>
            <a:off x="8191500" y="4127236"/>
            <a:ext cx="3043513" cy="594320"/>
          </a:xfrm>
          <a:prstGeom prst="rect">
            <a:avLst/>
          </a:prstGeom>
          <a:noFill/>
        </p:spPr>
        <p:txBody>
          <a:bodyPr wrap="square" lIns="0" tIns="0" rIns="0" bIns="0" rtlCol="0" anchor="t">
            <a:normAutofit/>
          </a:bodyPr>
          <a:lstStyle/>
          <a:p>
            <a:pPr marL="0" indent="0" algn="l">
              <a:lnSpc>
                <a:spcPts val="4480"/>
              </a:lnSpc>
              <a:buNone/>
            </a:pPr>
            <a:r>
              <a:rPr lang="en-US" sz="3200" b="1" dirty="0">
                <a:solidFill>
                  <a:srgbClr val="0B7A6E"/>
                </a:solidFill>
                <a:latin typeface="Arial" panose="020B0604020202020204" pitchFamily="34" charset="0"/>
                <a:ea typeface="Arial" panose="020B0604020202020204" pitchFamily="34" charset="-122"/>
                <a:cs typeface="Arial" panose="020B0604020202020204" pitchFamily="34" charset="-120"/>
              </a:rPr>
              <a:t>06</a:t>
            </a:r>
            <a:endParaRPr lang="en-US" sz="3200" dirty="0"/>
          </a:p>
        </p:txBody>
      </p:sp>
      <p:sp>
        <p:nvSpPr>
          <p:cNvPr id="26" name="Text 24"/>
          <p:cNvSpPr/>
          <p:nvPr/>
        </p:nvSpPr>
        <p:spPr>
          <a:xfrm>
            <a:off x="8191500" y="5052947"/>
            <a:ext cx="3043513"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B2A38"/>
                </a:solidFill>
                <a:latin typeface="Arial" panose="020B0604020202020204" pitchFamily="34" charset="0"/>
                <a:ea typeface="Arial" panose="020B0604020202020204" pitchFamily="34" charset="-122"/>
                <a:cs typeface="Arial" panose="020B0604020202020204" pitchFamily="34" charset="-120"/>
              </a:rPr>
              <a:t>Hệ thống hỗ trợ</a:t>
            </a:r>
            <a:endParaRPr lang="en-US" sz="1800" dirty="0"/>
          </a:p>
        </p:txBody>
      </p:sp>
      <p:sp>
        <p:nvSpPr>
          <p:cNvPr id="27" name="Text 25"/>
          <p:cNvSpPr/>
          <p:nvPr/>
        </p:nvSpPr>
        <p:spPr>
          <a:xfrm>
            <a:off x="8191500" y="5378053"/>
            <a:ext cx="3043513"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865"/>
                </a:solidFill>
                <a:latin typeface="Arial" panose="020B0604020202020204" pitchFamily="34" charset="0"/>
                <a:ea typeface="Arial" panose="020B0604020202020204" pitchFamily="34" charset="-122"/>
                <a:cs typeface="Arial" panose="020B0604020202020204" pitchFamily="34" charset="-120"/>
              </a:rPr>
              <a:t>Tường lửa, IDS/IPS, VPN, checklist</a:t>
            </a:r>
            <a:endParaRPr lang="en-US" sz="1300" dirty="0"/>
          </a:p>
        </p:txBody>
      </p:sp>
      <p:sp>
        <p:nvSpPr>
          <p:cNvPr id="28" name="Text 26"/>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BỐI CẢNH</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Vì sao Web và Email là mục tiêu hàng đầu</a:t>
            </a:r>
            <a:endParaRPr lang="en-US" sz="3000" dirty="0"/>
          </a:p>
        </p:txBody>
      </p:sp>
      <p:sp>
        <p:nvSpPr>
          <p:cNvPr id="4" name="Text 2"/>
          <p:cNvSpPr/>
          <p:nvPr/>
        </p:nvSpPr>
        <p:spPr>
          <a:xfrm>
            <a:off x="812800" y="1794470"/>
            <a:ext cx="10883392" cy="614627"/>
          </a:xfrm>
          <a:prstGeom prst="rect">
            <a:avLst/>
          </a:prstGeom>
          <a:noFill/>
        </p:spPr>
        <p:txBody>
          <a:bodyPr wrap="square" lIns="0" tIns="0" rIns="0" bIns="0" rtlCol="0" anchor="t">
            <a:normAutofit/>
          </a:bodyPr>
          <a:lstStyle/>
          <a:p>
            <a:pPr marL="0" indent="0" algn="l">
              <a:lnSpc>
                <a:spcPts val="2320"/>
              </a:lnSpc>
              <a:buNone/>
            </a:pPr>
            <a:r>
              <a:rPr lang="en-US" sz="1600" dirty="0">
                <a:solidFill>
                  <a:srgbClr val="3C4A57"/>
                </a:solidFill>
                <a:latin typeface="Arial" panose="020B0604020202020204" pitchFamily="34" charset="0"/>
                <a:ea typeface="Arial" panose="020B0604020202020204" pitchFamily="34" charset="-122"/>
                <a:cs typeface="Arial" panose="020B0604020202020204" pitchFamily="34" charset="-120"/>
              </a:rPr>
              <a:t>Cả hai dịch vụ mở trực tiếp ra Internet và chứa dữ liệu giá trị. Mọi biện pháp trong bài đều nhằm bảo vệ năm thuộc tính của an toàn thông tin.</a:t>
            </a:r>
            <a:endParaRPr lang="en-US" sz="1600" dirty="0"/>
          </a:p>
        </p:txBody>
      </p:sp>
      <p:sp>
        <p:nvSpPr>
          <p:cNvPr id="5" name="Shape 3"/>
          <p:cNvSpPr/>
          <p:nvPr/>
        </p:nvSpPr>
        <p:spPr>
          <a:xfrm>
            <a:off x="815975" y="2640873"/>
            <a:ext cx="1984970" cy="3197953"/>
          </a:xfrm>
          <a:prstGeom prst="roundRect">
            <a:avLst>
              <a:gd name="adj" fmla="val 4959"/>
            </a:avLst>
          </a:prstGeom>
          <a:solidFill>
            <a:srgbClr val="FFFFFF"/>
          </a:solidFill>
          <a:ln w="6350">
            <a:solidFill>
              <a:srgbClr val="DCE3E1"/>
            </a:solidFill>
            <a:prstDash val="solid"/>
          </a:ln>
        </p:spPr>
      </p:sp>
      <p:sp>
        <p:nvSpPr>
          <p:cNvPr id="6" name="Text 4"/>
          <p:cNvSpPr/>
          <p:nvPr/>
        </p:nvSpPr>
        <p:spPr>
          <a:xfrm>
            <a:off x="994833" y="2819732"/>
            <a:ext cx="1678054"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Bảo mật</a:t>
            </a:r>
            <a:endParaRPr lang="en-US" sz="1600" dirty="0"/>
          </a:p>
        </p:txBody>
      </p:sp>
      <p:sp>
        <p:nvSpPr>
          <p:cNvPr id="7" name="Text 5"/>
          <p:cNvSpPr/>
          <p:nvPr/>
        </p:nvSpPr>
        <p:spPr>
          <a:xfrm>
            <a:off x="994833" y="3139745"/>
            <a:ext cx="1678054"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Confidentiality</a:t>
            </a:r>
            <a:endParaRPr lang="en-US" sz="1200" dirty="0"/>
          </a:p>
        </p:txBody>
      </p:sp>
      <p:sp>
        <p:nvSpPr>
          <p:cNvPr id="8" name="Text 6"/>
          <p:cNvSpPr/>
          <p:nvPr/>
        </p:nvSpPr>
        <p:spPr>
          <a:xfrm>
            <a:off x="994833" y="3429265"/>
            <a:ext cx="1678054" cy="7187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Chỉ người được phép mới xem được dữ liệu</a:t>
            </a:r>
            <a:endParaRPr lang="en-US" sz="1300" dirty="0"/>
          </a:p>
        </p:txBody>
      </p:sp>
      <p:sp>
        <p:nvSpPr>
          <p:cNvPr id="9" name="Shape 7"/>
          <p:cNvSpPr/>
          <p:nvPr/>
        </p:nvSpPr>
        <p:spPr>
          <a:xfrm>
            <a:off x="2959695" y="2640873"/>
            <a:ext cx="1985037" cy="3197953"/>
          </a:xfrm>
          <a:prstGeom prst="roundRect">
            <a:avLst>
              <a:gd name="adj" fmla="val 4958"/>
            </a:avLst>
          </a:prstGeom>
          <a:solidFill>
            <a:srgbClr val="FFFFFF"/>
          </a:solidFill>
          <a:ln w="6350">
            <a:solidFill>
              <a:srgbClr val="DCE3E1"/>
            </a:solidFill>
            <a:prstDash val="solid"/>
          </a:ln>
        </p:spPr>
      </p:sp>
      <p:sp>
        <p:nvSpPr>
          <p:cNvPr id="10" name="Text 8"/>
          <p:cNvSpPr/>
          <p:nvPr/>
        </p:nvSpPr>
        <p:spPr>
          <a:xfrm>
            <a:off x="3138554" y="2819732"/>
            <a:ext cx="1678120"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Toàn vẹn</a:t>
            </a:r>
            <a:endParaRPr lang="en-US" sz="1600" dirty="0"/>
          </a:p>
        </p:txBody>
      </p:sp>
      <p:sp>
        <p:nvSpPr>
          <p:cNvPr id="11" name="Text 9"/>
          <p:cNvSpPr/>
          <p:nvPr/>
        </p:nvSpPr>
        <p:spPr>
          <a:xfrm>
            <a:off x="3138554" y="3139745"/>
            <a:ext cx="167812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Integrity</a:t>
            </a:r>
            <a:endParaRPr lang="en-US" sz="1200" dirty="0"/>
          </a:p>
        </p:txBody>
      </p:sp>
      <p:sp>
        <p:nvSpPr>
          <p:cNvPr id="12" name="Text 10"/>
          <p:cNvSpPr/>
          <p:nvPr/>
        </p:nvSpPr>
        <p:spPr>
          <a:xfrm>
            <a:off x="3138554" y="3429265"/>
            <a:ext cx="1678120"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Dữ liệu không bị sửa đổi trái phép</a:t>
            </a:r>
            <a:endParaRPr lang="en-US" sz="1300" dirty="0"/>
          </a:p>
        </p:txBody>
      </p:sp>
      <p:sp>
        <p:nvSpPr>
          <p:cNvPr id="13" name="Shape 11"/>
          <p:cNvSpPr/>
          <p:nvPr/>
        </p:nvSpPr>
        <p:spPr>
          <a:xfrm>
            <a:off x="5103482" y="2640873"/>
            <a:ext cx="1984970" cy="3197953"/>
          </a:xfrm>
          <a:prstGeom prst="roundRect">
            <a:avLst>
              <a:gd name="adj" fmla="val 4959"/>
            </a:avLst>
          </a:prstGeom>
          <a:solidFill>
            <a:srgbClr val="FFFFFF"/>
          </a:solidFill>
          <a:ln w="6350">
            <a:solidFill>
              <a:srgbClr val="DCE3E1"/>
            </a:solidFill>
            <a:prstDash val="solid"/>
          </a:ln>
        </p:spPr>
      </p:sp>
      <p:sp>
        <p:nvSpPr>
          <p:cNvPr id="14" name="Text 12"/>
          <p:cNvSpPr/>
          <p:nvPr/>
        </p:nvSpPr>
        <p:spPr>
          <a:xfrm>
            <a:off x="5282340" y="2819732"/>
            <a:ext cx="1678054"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Sẵn sàng</a:t>
            </a:r>
            <a:endParaRPr lang="en-US" sz="1600" dirty="0"/>
          </a:p>
        </p:txBody>
      </p:sp>
      <p:sp>
        <p:nvSpPr>
          <p:cNvPr id="15" name="Text 13"/>
          <p:cNvSpPr/>
          <p:nvPr/>
        </p:nvSpPr>
        <p:spPr>
          <a:xfrm>
            <a:off x="5282340" y="3139745"/>
            <a:ext cx="1678054"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Availability</a:t>
            </a:r>
            <a:endParaRPr lang="en-US" sz="1200" dirty="0"/>
          </a:p>
        </p:txBody>
      </p:sp>
      <p:sp>
        <p:nvSpPr>
          <p:cNvPr id="16" name="Text 14"/>
          <p:cNvSpPr/>
          <p:nvPr/>
        </p:nvSpPr>
        <p:spPr>
          <a:xfrm>
            <a:off x="5282340" y="3429265"/>
            <a:ext cx="1678054"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Dịch vụ luôn truy cập được</a:t>
            </a:r>
            <a:endParaRPr lang="en-US" sz="1300" dirty="0"/>
          </a:p>
        </p:txBody>
      </p:sp>
      <p:sp>
        <p:nvSpPr>
          <p:cNvPr id="17" name="Shape 15"/>
          <p:cNvSpPr/>
          <p:nvPr/>
        </p:nvSpPr>
        <p:spPr>
          <a:xfrm>
            <a:off x="7247203" y="2640873"/>
            <a:ext cx="1985037" cy="3197953"/>
          </a:xfrm>
          <a:prstGeom prst="roundRect">
            <a:avLst>
              <a:gd name="adj" fmla="val 4958"/>
            </a:avLst>
          </a:prstGeom>
          <a:solidFill>
            <a:srgbClr val="FFFFFF"/>
          </a:solidFill>
          <a:ln w="6350">
            <a:solidFill>
              <a:srgbClr val="DCE3E1"/>
            </a:solidFill>
            <a:prstDash val="solid"/>
          </a:ln>
        </p:spPr>
      </p:sp>
      <p:sp>
        <p:nvSpPr>
          <p:cNvPr id="18" name="Text 16"/>
          <p:cNvSpPr/>
          <p:nvPr/>
        </p:nvSpPr>
        <p:spPr>
          <a:xfrm>
            <a:off x="7426061" y="2819732"/>
            <a:ext cx="1678120"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Xác thực</a:t>
            </a:r>
            <a:endParaRPr lang="en-US" sz="1600" dirty="0"/>
          </a:p>
        </p:txBody>
      </p:sp>
      <p:sp>
        <p:nvSpPr>
          <p:cNvPr id="19" name="Text 17"/>
          <p:cNvSpPr/>
          <p:nvPr/>
        </p:nvSpPr>
        <p:spPr>
          <a:xfrm>
            <a:off x="7426061" y="3139745"/>
            <a:ext cx="167812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Authentication</a:t>
            </a:r>
            <a:endParaRPr lang="en-US" sz="1200" dirty="0"/>
          </a:p>
        </p:txBody>
      </p:sp>
      <p:sp>
        <p:nvSpPr>
          <p:cNvPr id="20" name="Text 18"/>
          <p:cNvSpPr/>
          <p:nvPr/>
        </p:nvSpPr>
        <p:spPr>
          <a:xfrm>
            <a:off x="7426061" y="3429265"/>
            <a:ext cx="1678120"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Xác định đúng danh tính người dùng</a:t>
            </a:r>
            <a:endParaRPr lang="en-US" sz="1300" dirty="0"/>
          </a:p>
        </p:txBody>
      </p:sp>
      <p:sp>
        <p:nvSpPr>
          <p:cNvPr id="21" name="Shape 19"/>
          <p:cNvSpPr/>
          <p:nvPr/>
        </p:nvSpPr>
        <p:spPr>
          <a:xfrm>
            <a:off x="9390989" y="2640873"/>
            <a:ext cx="1985037" cy="3197953"/>
          </a:xfrm>
          <a:prstGeom prst="roundRect">
            <a:avLst>
              <a:gd name="adj" fmla="val 4958"/>
            </a:avLst>
          </a:prstGeom>
          <a:solidFill>
            <a:srgbClr val="FFFFFF"/>
          </a:solidFill>
          <a:ln w="6350">
            <a:solidFill>
              <a:srgbClr val="DCE3E1"/>
            </a:solidFill>
            <a:prstDash val="solid"/>
          </a:ln>
        </p:spPr>
      </p:sp>
      <p:sp>
        <p:nvSpPr>
          <p:cNvPr id="22" name="Text 20"/>
          <p:cNvSpPr/>
          <p:nvPr/>
        </p:nvSpPr>
        <p:spPr>
          <a:xfrm>
            <a:off x="9569847" y="2819732"/>
            <a:ext cx="1678120"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Không chối bỏ</a:t>
            </a:r>
            <a:endParaRPr lang="en-US" sz="1600" dirty="0"/>
          </a:p>
        </p:txBody>
      </p:sp>
      <p:sp>
        <p:nvSpPr>
          <p:cNvPr id="23" name="Text 21"/>
          <p:cNvSpPr/>
          <p:nvPr/>
        </p:nvSpPr>
        <p:spPr>
          <a:xfrm>
            <a:off x="9569847" y="3139745"/>
            <a:ext cx="167812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Non-repudiation</a:t>
            </a:r>
            <a:endParaRPr lang="en-US" sz="1200" dirty="0"/>
          </a:p>
        </p:txBody>
      </p:sp>
      <p:sp>
        <p:nvSpPr>
          <p:cNvPr id="24" name="Text 22"/>
          <p:cNvSpPr/>
          <p:nvPr/>
        </p:nvSpPr>
        <p:spPr>
          <a:xfrm>
            <a:off x="9569847" y="3429265"/>
            <a:ext cx="1678120"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Không thể phủ nhận hành vi đã thực hiện</a:t>
            </a:r>
            <a:endParaRPr lang="en-US" sz="1300" dirty="0"/>
          </a:p>
        </p:txBody>
      </p:sp>
      <p:sp>
        <p:nvSpPr>
          <p:cNvPr id="25" name="Text 23"/>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E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2DD4BF"/>
                </a:solidFill>
                <a:latin typeface="Arial" panose="020B0604020202020204" pitchFamily="34" charset="0"/>
                <a:ea typeface="Arial" panose="020B0604020202020204" pitchFamily="34" charset="-122"/>
                <a:cs typeface="Arial" panose="020B0604020202020204" pitchFamily="34" charset="-120"/>
              </a:rPr>
              <a:t>PHẦN 1 · BẢO MẬT MÁY CHỦ</a:t>
            </a:r>
            <a:endParaRPr lang="en-US" sz="1400" dirty="0"/>
          </a:p>
        </p:txBody>
      </p:sp>
      <p:sp>
        <p:nvSpPr>
          <p:cNvPr id="3" name="Text 1"/>
          <p:cNvSpPr/>
          <p:nvPr>
            <p:ph type="title"/>
          </p:nvPr>
        </p:nvSpPr>
        <p:spPr>
          <a:xfrm>
            <a:off x="812800" y="1188707"/>
            <a:ext cx="9810750" cy="1198827"/>
          </a:xfrm>
          <a:prstGeom prst="rect">
            <a:avLst/>
          </a:prstGeom>
          <a:noFill/>
        </p:spPr>
        <p:txBody>
          <a:bodyPr wrap="square" lIns="0" tIns="0" rIns="0" bIns="0" rtlCol="0" anchor="t">
            <a:normAutofit/>
          </a:bodyPr>
          <a:lstStyle/>
          <a:p>
            <a:pPr marL="0" indent="0" algn="l">
              <a:lnSpc>
                <a:spcPts val="4620"/>
              </a:lnSpc>
              <a:buNone/>
            </a:pPr>
            <a:r>
              <a:rPr lang="en-US" sz="4200" b="1" i="0" dirty="0">
                <a:solidFill>
                  <a:srgbClr val="EAF1F6"/>
                </a:solidFill>
                <a:latin typeface="Arial" panose="020B0604020202020204" pitchFamily="34" charset="0"/>
                <a:ea typeface="Arial" panose="020B0604020202020204" pitchFamily="34" charset="-122"/>
                <a:cs typeface="Arial" panose="020B0604020202020204" pitchFamily="34" charset="-120"/>
              </a:rPr>
              <a:t>Củng cố máy chủ là quá trình liên tục</a:t>
            </a:r>
            <a:endParaRPr lang="en-US" sz="4200" dirty="0"/>
          </a:p>
        </p:txBody>
      </p:sp>
      <p:sp>
        <p:nvSpPr>
          <p:cNvPr id="4" name="Text 2"/>
          <p:cNvSpPr/>
          <p:nvPr/>
        </p:nvSpPr>
        <p:spPr>
          <a:xfrm>
            <a:off x="812800" y="2489135"/>
            <a:ext cx="9156700" cy="338402"/>
          </a:xfrm>
          <a:prstGeom prst="rect">
            <a:avLst/>
          </a:prstGeom>
          <a:noFill/>
        </p:spPr>
        <p:txBody>
          <a:bodyPr wrap="square" lIns="0" tIns="0" rIns="0" bIns="0" rtlCol="0" anchor="t">
            <a:normAutofit/>
          </a:bodyPr>
          <a:lstStyle/>
          <a:p>
            <a:pPr marL="0" indent="0" algn="l">
              <a:lnSpc>
                <a:spcPts val="2465"/>
              </a:lnSpc>
              <a:buNone/>
            </a:pPr>
            <a:r>
              <a:rPr lang="en-US" sz="1700" dirty="0">
                <a:solidFill>
                  <a:srgbClr val="B7C6D4"/>
                </a:solidFill>
                <a:latin typeface="Arial" panose="020B0604020202020204" pitchFamily="34" charset="0"/>
                <a:ea typeface="Arial" panose="020B0604020202020204" pitchFamily="34" charset="-122"/>
                <a:cs typeface="Arial" panose="020B0604020202020204" pitchFamily="34" charset="-120"/>
              </a:rPr>
              <a:t>Kết hợp biện pháp kỹ thuật và biện pháp quản trị, duy trì suốt vòng đời máy chủ.</a:t>
            </a:r>
            <a:endParaRPr lang="en-US" sz="1700" dirty="0"/>
          </a:p>
        </p:txBody>
      </p:sp>
      <p:sp>
        <p:nvSpPr>
          <p:cNvPr id="5" name="Shape 3"/>
          <p:cNvSpPr/>
          <p:nvPr/>
        </p:nvSpPr>
        <p:spPr>
          <a:xfrm>
            <a:off x="812800" y="4653359"/>
            <a:ext cx="2527300" cy="1188641"/>
          </a:xfrm>
          <a:prstGeom prst="roundRect">
            <a:avLst>
              <a:gd name="adj" fmla="val 8548"/>
            </a:avLst>
          </a:prstGeom>
          <a:solidFill>
            <a:srgbClr val="17283A"/>
          </a:solidFill>
        </p:spPr>
      </p:sp>
      <p:sp>
        <p:nvSpPr>
          <p:cNvPr id="6" name="Text 4"/>
          <p:cNvSpPr/>
          <p:nvPr/>
        </p:nvSpPr>
        <p:spPr>
          <a:xfrm>
            <a:off x="1016000" y="4856559"/>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DD4BF"/>
                </a:solidFill>
                <a:latin typeface="Arial" panose="020B0604020202020204" pitchFamily="34" charset="0"/>
                <a:ea typeface="Arial" panose="020B0604020202020204" pitchFamily="34" charset="-122"/>
                <a:cs typeface="Arial" panose="020B0604020202020204" pitchFamily="34" charset="-120"/>
              </a:rPr>
              <a:t>Bảo vệ dữ liệu</a:t>
            </a:r>
            <a:endParaRPr lang="en-US" sz="1600" dirty="0"/>
          </a:p>
        </p:txBody>
      </p:sp>
      <p:sp>
        <p:nvSpPr>
          <p:cNvPr id="7" name="Text 5"/>
          <p:cNvSpPr/>
          <p:nvPr/>
        </p:nvSpPr>
        <p:spPr>
          <a:xfrm>
            <a:off x="1016000" y="5176574"/>
            <a:ext cx="21845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Tài khoản, thông tin khách hàng, tài chính</a:t>
            </a:r>
            <a:endParaRPr lang="en-US" sz="1300" dirty="0"/>
          </a:p>
        </p:txBody>
      </p:sp>
      <p:sp>
        <p:nvSpPr>
          <p:cNvPr id="8" name="Shape 6"/>
          <p:cNvSpPr/>
          <p:nvPr/>
        </p:nvSpPr>
        <p:spPr>
          <a:xfrm>
            <a:off x="3492500" y="4653359"/>
            <a:ext cx="2527300" cy="1188641"/>
          </a:xfrm>
          <a:prstGeom prst="roundRect">
            <a:avLst>
              <a:gd name="adj" fmla="val 8548"/>
            </a:avLst>
          </a:prstGeom>
          <a:solidFill>
            <a:srgbClr val="17283A"/>
          </a:solidFill>
        </p:spPr>
      </p:sp>
      <p:sp>
        <p:nvSpPr>
          <p:cNvPr id="9" name="Text 7"/>
          <p:cNvSpPr/>
          <p:nvPr/>
        </p:nvSpPr>
        <p:spPr>
          <a:xfrm>
            <a:off x="3695700" y="4856559"/>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DD4BF"/>
                </a:solidFill>
                <a:latin typeface="Arial" panose="020B0604020202020204" pitchFamily="34" charset="0"/>
                <a:ea typeface="Arial" panose="020B0604020202020204" pitchFamily="34" charset="-122"/>
                <a:cs typeface="Arial" panose="020B0604020202020204" pitchFamily="34" charset="-120"/>
              </a:rPr>
              <a:t>Duy trì dịch vụ</a:t>
            </a:r>
            <a:endParaRPr lang="en-US" sz="1600" dirty="0"/>
          </a:p>
        </p:txBody>
      </p:sp>
      <p:sp>
        <p:nvSpPr>
          <p:cNvPr id="10" name="Text 8"/>
          <p:cNvSpPr/>
          <p:nvPr/>
        </p:nvSpPr>
        <p:spPr>
          <a:xfrm>
            <a:off x="3695700" y="5176574"/>
            <a:ext cx="21845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Tránh gián đoạn và thiệt hại uy tín</a:t>
            </a:r>
            <a:endParaRPr lang="en-US" sz="1300" dirty="0"/>
          </a:p>
        </p:txBody>
      </p:sp>
      <p:sp>
        <p:nvSpPr>
          <p:cNvPr id="11" name="Shape 9"/>
          <p:cNvSpPr/>
          <p:nvPr/>
        </p:nvSpPr>
        <p:spPr>
          <a:xfrm>
            <a:off x="6172200" y="4653359"/>
            <a:ext cx="2527300" cy="1188641"/>
          </a:xfrm>
          <a:prstGeom prst="roundRect">
            <a:avLst>
              <a:gd name="adj" fmla="val 8548"/>
            </a:avLst>
          </a:prstGeom>
          <a:solidFill>
            <a:srgbClr val="17283A"/>
          </a:solidFill>
        </p:spPr>
      </p:sp>
      <p:sp>
        <p:nvSpPr>
          <p:cNvPr id="12" name="Text 10"/>
          <p:cNvSpPr/>
          <p:nvPr/>
        </p:nvSpPr>
        <p:spPr>
          <a:xfrm>
            <a:off x="6375400" y="4856559"/>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DD4BF"/>
                </a:solidFill>
                <a:latin typeface="Arial" panose="020B0604020202020204" pitchFamily="34" charset="0"/>
                <a:ea typeface="Arial" panose="020B0604020202020204" pitchFamily="34" charset="-122"/>
                <a:cs typeface="Arial" panose="020B0604020202020204" pitchFamily="34" charset="-120"/>
              </a:rPr>
              <a:t>Chặn lợi dụng</a:t>
            </a:r>
            <a:endParaRPr lang="en-US" sz="1600" dirty="0"/>
          </a:p>
        </p:txBody>
      </p:sp>
      <p:sp>
        <p:nvSpPr>
          <p:cNvPr id="13" name="Text 11"/>
          <p:cNvSpPr/>
          <p:nvPr/>
        </p:nvSpPr>
        <p:spPr>
          <a:xfrm>
            <a:off x="6375400" y="5176574"/>
            <a:ext cx="21845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Không để máy chủ thành bàn đạp tấn công</a:t>
            </a:r>
            <a:endParaRPr lang="en-US" sz="1300" dirty="0"/>
          </a:p>
        </p:txBody>
      </p:sp>
      <p:sp>
        <p:nvSpPr>
          <p:cNvPr id="14" name="Shape 12"/>
          <p:cNvSpPr/>
          <p:nvPr/>
        </p:nvSpPr>
        <p:spPr>
          <a:xfrm>
            <a:off x="8851900" y="4653359"/>
            <a:ext cx="2527300" cy="1188641"/>
          </a:xfrm>
          <a:prstGeom prst="roundRect">
            <a:avLst>
              <a:gd name="adj" fmla="val 8548"/>
            </a:avLst>
          </a:prstGeom>
          <a:solidFill>
            <a:srgbClr val="17283A"/>
          </a:solidFill>
        </p:spPr>
      </p:sp>
      <p:sp>
        <p:nvSpPr>
          <p:cNvPr id="15" name="Text 13"/>
          <p:cNvSpPr/>
          <p:nvPr/>
        </p:nvSpPr>
        <p:spPr>
          <a:xfrm>
            <a:off x="9055100" y="4856559"/>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DD4BF"/>
                </a:solidFill>
                <a:latin typeface="Arial" panose="020B0604020202020204" pitchFamily="34" charset="0"/>
                <a:ea typeface="Arial" panose="020B0604020202020204" pitchFamily="34" charset="-122"/>
                <a:cs typeface="Arial" panose="020B0604020202020204" pitchFamily="34" charset="-120"/>
              </a:rPr>
              <a:t>Tuân thủ</a:t>
            </a:r>
            <a:endParaRPr lang="en-US" sz="1600" dirty="0"/>
          </a:p>
        </p:txBody>
      </p:sp>
      <p:sp>
        <p:nvSpPr>
          <p:cNvPr id="16" name="Text 14"/>
          <p:cNvSpPr/>
          <p:nvPr/>
        </p:nvSpPr>
        <p:spPr>
          <a:xfrm>
            <a:off x="9055100" y="5176574"/>
            <a:ext cx="21845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Quy định pháp luật, ISO/IEC 27001</a:t>
            </a:r>
            <a:endParaRPr lang="en-US" sz="1300" dirty="0"/>
          </a:p>
        </p:txBody>
      </p:sp>
      <p:sp>
        <p:nvSpPr>
          <p:cNvPr id="17" name="Text 15"/>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3B5"/>
                </a:solidFill>
                <a:latin typeface="Arial" panose="020B0604020202020204" pitchFamily="34" charset="0"/>
                <a:ea typeface="Arial" panose="020B0604020202020204" pitchFamily="34" charset="-122"/>
                <a:cs typeface="Arial" panose="020B0604020202020204" pitchFamily="34" charset="-120"/>
              </a:rPr>
              <a:t>Bảo mật máy chủ Web và Email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BẢO MẬT MÁY CHỦ</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Kết nối máy chủ an toàn</a:t>
            </a:r>
            <a:endParaRPr lang="en-US" sz="3000" dirty="0"/>
          </a:p>
        </p:txBody>
      </p:sp>
      <p:graphicFrame>
        <p:nvGraphicFramePr>
          <p:cNvPr id="4" name="Table 0"/>
          <p:cNvGraphicFramePr>
            <a:graphicFrameLocks noGrp="1"/>
          </p:cNvGraphicFramePr>
          <p:nvPr/>
        </p:nvGraphicFramePr>
        <p:xfrm>
          <a:off x="825500" y="1807170"/>
          <a:ext cx="10553700" cy="2315766"/>
        </p:xfrm>
        <a:graphic>
          <a:graphicData uri="http://schemas.openxmlformats.org/drawingml/2006/table">
            <a:tbl>
              <a:tblPr/>
              <a:tblGrid>
                <a:gridCol w="2743962"/>
                <a:gridCol w="7809738"/>
              </a:tblGrid>
              <a:tr h="385961">
                <a:tc>
                  <a:txBody>
                    <a:bodyPr/>
                    <a:lstStyle/>
                    <a:p>
                      <a:pPr marL="0" indent="0">
                        <a:lnSpc>
                          <a:spcPts val="1960"/>
                        </a:lnSpc>
                        <a:buNone/>
                      </a:pPr>
                      <a:r>
                        <a:rPr lang="en-US" sz="1400" b="1" dirty="0">
                          <a:solidFill>
                            <a:srgbClr val="1B2A38"/>
                          </a:solidFill>
                          <a:latin typeface="Arial" panose="020B0604020202020204" pitchFamily="34" charset="0"/>
                          <a:ea typeface="Arial" panose="020B0604020202020204" pitchFamily="34" charset="-122"/>
                          <a:cs typeface="Arial" panose="020B0604020202020204" pitchFamily="34" charset="-120"/>
                        </a:rPr>
                        <a:t>Biện pháp</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c>
                  <a:txBody>
                    <a:bodyPr/>
                    <a:lstStyle/>
                    <a:p>
                      <a:pPr marL="0" indent="0">
                        <a:lnSpc>
                          <a:spcPts val="1960"/>
                        </a:lnSpc>
                        <a:buNone/>
                      </a:pPr>
                      <a:r>
                        <a:rPr lang="en-US" sz="1400" b="1" dirty="0">
                          <a:solidFill>
                            <a:srgbClr val="1B2A38"/>
                          </a:solidFill>
                          <a:latin typeface="Arial" panose="020B0604020202020204" pitchFamily="34" charset="0"/>
                          <a:ea typeface="Arial" panose="020B0604020202020204" pitchFamily="34" charset="-122"/>
                          <a:cs typeface="Arial" panose="020B0604020202020204" pitchFamily="34" charset="-120"/>
                        </a:rPr>
                        <a:t>Việc cần làm</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B5B6B5"/>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r>
              <a:tr h="385961">
                <a:tc>
                  <a:txBody>
                    <a:bodyPr/>
                    <a:lstStyle/>
                    <a:p>
                      <a:pPr marL="0" indent="0">
                        <a:lnSpc>
                          <a:spcPts val="1960"/>
                        </a:lnSpc>
                        <a:buNone/>
                      </a:pPr>
                      <a:r>
                        <a:rPr lang="en-US" sz="1400" dirty="0">
                          <a:solidFill>
                            <a:srgbClr val="0B7A6E"/>
                          </a:solidFill>
                          <a:latin typeface="Arial" panose="020B0604020202020204" pitchFamily="34" charset="0"/>
                          <a:ea typeface="Arial" panose="020B0604020202020204" pitchFamily="34" charset="-122"/>
                          <a:cs typeface="Arial" panose="020B0604020202020204" pitchFamily="34" charset="-120"/>
                        </a:rPr>
                        <a:t>SSH</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960"/>
                        </a:lnSpc>
                        <a:buNone/>
                      </a:pPr>
                      <a:r>
                        <a:rPr lang="en-US" sz="1400" dirty="0">
                          <a:solidFill>
                            <a:srgbClr val="1B2A38"/>
                          </a:solidFill>
                          <a:latin typeface="Arial" panose="020B0604020202020204" pitchFamily="34" charset="0"/>
                          <a:ea typeface="Arial" panose="020B0604020202020204" pitchFamily="34" charset="-122"/>
                          <a:cs typeface="Arial" panose="020B0604020202020204" pitchFamily="34" charset="-120"/>
                        </a:rPr>
                        <a:t>Thay Telnet; đổi cổng mặc định; tắt đăng nhập root trực tiếp</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85961">
                <a:tc>
                  <a:txBody>
                    <a:bodyPr/>
                    <a:lstStyle/>
                    <a:p>
                      <a:pPr marL="0" indent="0">
                        <a:lnSpc>
                          <a:spcPts val="1960"/>
                        </a:lnSpc>
                        <a:buNone/>
                      </a:pPr>
                      <a:r>
                        <a:rPr lang="en-US" sz="1400" dirty="0">
                          <a:solidFill>
                            <a:srgbClr val="0B7A6E"/>
                          </a:solidFill>
                          <a:latin typeface="Arial" panose="020B0604020202020204" pitchFamily="34" charset="0"/>
                          <a:ea typeface="Arial" panose="020B0604020202020204" pitchFamily="34" charset="-122"/>
                          <a:cs typeface="Arial" panose="020B0604020202020204" pitchFamily="34" charset="-120"/>
                        </a:rPr>
                        <a:t>Khóa SSH</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960"/>
                        </a:lnSpc>
                        <a:buNone/>
                      </a:pPr>
                      <a:r>
                        <a:rPr lang="en-US" sz="1400" dirty="0">
                          <a:solidFill>
                            <a:srgbClr val="1B2A38"/>
                          </a:solidFill>
                          <a:latin typeface="Arial" panose="020B0604020202020204" pitchFamily="34" charset="0"/>
                          <a:ea typeface="Arial" panose="020B0604020202020204" pitchFamily="34" charset="-122"/>
                          <a:cs typeface="Arial" panose="020B0604020202020204" pitchFamily="34" charset="-120"/>
                        </a:rPr>
                        <a:t>Dùng cặp khóa thay mật khẩu; bảo vệ khóa riêng bằng passphrase</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85961">
                <a:tc>
                  <a:txBody>
                    <a:bodyPr/>
                    <a:lstStyle/>
                    <a:p>
                      <a:pPr marL="0" indent="0">
                        <a:lnSpc>
                          <a:spcPts val="1960"/>
                        </a:lnSpc>
                        <a:buNone/>
                      </a:pPr>
                      <a:r>
                        <a:rPr lang="en-US" sz="1400" dirty="0">
                          <a:solidFill>
                            <a:srgbClr val="0B7A6E"/>
                          </a:solidFill>
                          <a:latin typeface="Arial" panose="020B0604020202020204" pitchFamily="34" charset="0"/>
                          <a:ea typeface="Arial" panose="020B0604020202020204" pitchFamily="34" charset="-122"/>
                          <a:cs typeface="Arial" panose="020B0604020202020204" pitchFamily="34" charset="-120"/>
                        </a:rPr>
                        <a:t>FTPS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960"/>
                        </a:lnSpc>
                        <a:buNone/>
                      </a:pPr>
                      <a:r>
                        <a:rPr lang="en-US" sz="1400" dirty="0">
                          <a:solidFill>
                            <a:srgbClr val="1B2A38"/>
                          </a:solidFill>
                          <a:latin typeface="Arial" panose="020B0604020202020204" pitchFamily="34" charset="0"/>
                          <a:ea typeface="Arial" panose="020B0604020202020204" pitchFamily="34" charset="-122"/>
                          <a:cs typeface="Arial" panose="020B0604020202020204" pitchFamily="34" charset="-120"/>
                        </a:rPr>
                        <a:t>FTP kết hợp SSL/TLS thay cho FTP truyền dữ liệu rõ</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85961">
                <a:tc>
                  <a:txBody>
                    <a:bodyPr/>
                    <a:lstStyle/>
                    <a:p>
                      <a:pPr marL="0" indent="0">
                        <a:lnSpc>
                          <a:spcPts val="1960"/>
                        </a:lnSpc>
                        <a:buNone/>
                      </a:pPr>
                      <a:r>
                        <a:rPr lang="en-US" sz="1400" dirty="0">
                          <a:solidFill>
                            <a:srgbClr val="0B7A6E"/>
                          </a:solidFill>
                          <a:latin typeface="Arial" panose="020B0604020202020204" pitchFamily="34" charset="0"/>
                          <a:ea typeface="Arial" panose="020B0604020202020204" pitchFamily="34" charset="-122"/>
                          <a:cs typeface="Arial" panose="020B0604020202020204" pitchFamily="34" charset="-120"/>
                        </a:rPr>
                        <a:t>SSL/TLS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960"/>
                        </a:lnSpc>
                        <a:buNone/>
                      </a:pPr>
                      <a:r>
                        <a:rPr lang="en-US" sz="1400" dirty="0">
                          <a:solidFill>
                            <a:srgbClr val="1B2A38"/>
                          </a:solidFill>
                          <a:latin typeface="Arial" panose="020B0604020202020204" pitchFamily="34" charset="0"/>
                          <a:ea typeface="Arial" panose="020B0604020202020204" pitchFamily="34" charset="-122"/>
                          <a:cs typeface="Arial" panose="020B0604020202020204" pitchFamily="34" charset="-120"/>
                        </a:rPr>
                        <a:t>Cài chứng chỉ số cho web, mail, FTP để mã hóa đường truyền</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85961">
                <a:tc>
                  <a:txBody>
                    <a:bodyPr/>
                    <a:lstStyle/>
                    <a:p>
                      <a:pPr marL="0" indent="0">
                        <a:lnSpc>
                          <a:spcPts val="1960"/>
                        </a:lnSpc>
                        <a:buNone/>
                      </a:pPr>
                      <a:r>
                        <a:rPr lang="en-US" sz="1400" dirty="0">
                          <a:solidFill>
                            <a:srgbClr val="0B7A6E"/>
                          </a:solidFill>
                          <a:latin typeface="Arial" panose="020B0604020202020204" pitchFamily="34" charset="0"/>
                          <a:ea typeface="Arial" panose="020B0604020202020204" pitchFamily="34" charset="-122"/>
                          <a:cs typeface="Arial" panose="020B0604020202020204" pitchFamily="34" charset="-120"/>
                        </a:rPr>
                        <a:t>Mạng riêng, VPN</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960"/>
                        </a:lnSpc>
                        <a:buNone/>
                      </a:pPr>
                      <a:r>
                        <a:rPr lang="en-US" sz="1400" dirty="0">
                          <a:solidFill>
                            <a:srgbClr val="1B2A38"/>
                          </a:solidFill>
                          <a:latin typeface="Arial" panose="020B0604020202020204" pitchFamily="34" charset="0"/>
                          <a:ea typeface="Arial" panose="020B0604020202020204" pitchFamily="34" charset="-122"/>
                          <a:cs typeface="Arial" panose="020B0604020202020204" pitchFamily="34" charset="-120"/>
                        </a:rPr>
                        <a:t>Chỉ quản trị qua mạng riêng hoặc VPN, không mở cổng quản trị ra Internet</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BẢO MẬT MÁY CHỦ</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Quản lý người dùng và mật khẩu</a:t>
            </a:r>
            <a:endParaRPr lang="en-US" sz="3000" dirty="0"/>
          </a:p>
        </p:txBody>
      </p:sp>
      <p:sp>
        <p:nvSpPr>
          <p:cNvPr id="4" name="Shape 2"/>
          <p:cNvSpPr/>
          <p:nvPr/>
        </p:nvSpPr>
        <p:spPr>
          <a:xfrm>
            <a:off x="815975" y="1797645"/>
            <a:ext cx="5175250" cy="4041180"/>
          </a:xfrm>
          <a:prstGeom prst="roundRect">
            <a:avLst>
              <a:gd name="adj" fmla="val 2436"/>
            </a:avLst>
          </a:prstGeom>
          <a:solidFill>
            <a:srgbClr val="FFFFFF"/>
          </a:solidFill>
          <a:ln w="6350">
            <a:solidFill>
              <a:srgbClr val="DCE3E1"/>
            </a:solidFill>
            <a:prstDash val="solid"/>
          </a:ln>
        </p:spPr>
      </p:sp>
      <p:sp>
        <p:nvSpPr>
          <p:cNvPr id="5" name="Text 3"/>
          <p:cNvSpPr/>
          <p:nvPr/>
        </p:nvSpPr>
        <p:spPr>
          <a:xfrm>
            <a:off x="1045633" y="2027306"/>
            <a:ext cx="4857411"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0B7A6E"/>
                </a:solidFill>
                <a:latin typeface="Arial" panose="020B0604020202020204" pitchFamily="34" charset="0"/>
                <a:ea typeface="Arial" panose="020B0604020202020204" pitchFamily="34" charset="-122"/>
                <a:cs typeface="Arial" panose="020B0604020202020204" pitchFamily="34" charset="-120"/>
              </a:rPr>
              <a:t>Người dùng máy chủ</a:t>
            </a:r>
            <a:endParaRPr lang="en-US" sz="1800" dirty="0"/>
          </a:p>
        </p:txBody>
      </p:sp>
      <p:sp>
        <p:nvSpPr>
          <p:cNvPr id="6" name="Text 4"/>
          <p:cNvSpPr/>
          <p:nvPr/>
        </p:nvSpPr>
        <p:spPr>
          <a:xfrm>
            <a:off x="1142915" y="2428611"/>
            <a:ext cx="4752509" cy="1056481"/>
          </a:xfrm>
          <a:prstGeom prst="rect">
            <a:avLst/>
          </a:prstGeom>
          <a:noFill/>
        </p:spPr>
        <p:txBody>
          <a:bodyPr wrap="square" lIns="0" tIns="0" rIns="0" bIns="0" rtlCol="0" anchor="t">
            <a:normAutofit/>
          </a:bodyPr>
          <a:lstStyle/>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Mỗi người một tài khoản riêng</a:t>
            </a:r>
            <a:endParaRPr lang="en-US" sz="1400" dirty="0"/>
          </a:p>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Quyền tối thiểu (least privilege)</a:t>
            </a:r>
            <a:endParaRPr lang="en-US" sz="1400" dirty="0"/>
          </a:p>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Xóa tài khoản không còn dùng</a:t>
            </a:r>
            <a:endParaRPr lang="en-US" sz="1400" dirty="0"/>
          </a:p>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Ghi nhật ký đăng nhập, khóa sau nhiều lần sai</a:t>
            </a:r>
            <a:endParaRPr lang="en-US" sz="1400" dirty="0"/>
          </a:p>
        </p:txBody>
      </p:sp>
      <p:sp>
        <p:nvSpPr>
          <p:cNvPr id="7" name="Shape 5"/>
          <p:cNvSpPr/>
          <p:nvPr/>
        </p:nvSpPr>
        <p:spPr>
          <a:xfrm>
            <a:off x="6200775" y="1797645"/>
            <a:ext cx="5175250" cy="4041180"/>
          </a:xfrm>
          <a:prstGeom prst="roundRect">
            <a:avLst>
              <a:gd name="adj" fmla="val 2436"/>
            </a:avLst>
          </a:prstGeom>
          <a:solidFill>
            <a:srgbClr val="FFFFFF"/>
          </a:solidFill>
          <a:ln w="6350">
            <a:solidFill>
              <a:srgbClr val="DCE3E1"/>
            </a:solidFill>
            <a:prstDash val="solid"/>
          </a:ln>
        </p:spPr>
      </p:sp>
      <p:sp>
        <p:nvSpPr>
          <p:cNvPr id="8" name="Text 6"/>
          <p:cNvSpPr/>
          <p:nvPr/>
        </p:nvSpPr>
        <p:spPr>
          <a:xfrm>
            <a:off x="6430433" y="2027306"/>
            <a:ext cx="4857411"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0B7A6E"/>
                </a:solidFill>
                <a:latin typeface="Arial" panose="020B0604020202020204" pitchFamily="34" charset="0"/>
                <a:ea typeface="Arial" panose="020B0604020202020204" pitchFamily="34" charset="-122"/>
                <a:cs typeface="Arial" panose="020B0604020202020204" pitchFamily="34" charset="-120"/>
              </a:rPr>
              <a:t>Mật khẩu máy chủ</a:t>
            </a:r>
            <a:endParaRPr lang="en-US" sz="1800" dirty="0"/>
          </a:p>
        </p:txBody>
      </p:sp>
      <p:sp>
        <p:nvSpPr>
          <p:cNvPr id="9" name="Text 7"/>
          <p:cNvSpPr/>
          <p:nvPr/>
        </p:nvSpPr>
        <p:spPr>
          <a:xfrm>
            <a:off x="6527715" y="2428611"/>
            <a:ext cx="4752509" cy="1572022"/>
          </a:xfrm>
          <a:prstGeom prst="rect">
            <a:avLst/>
          </a:prstGeom>
          <a:noFill/>
        </p:spPr>
        <p:txBody>
          <a:bodyPr wrap="square" lIns="0" tIns="0" rIns="0" bIns="0" rtlCol="0" anchor="t">
            <a:normAutofit/>
          </a:bodyPr>
          <a:lstStyle/>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Đủ dài, phức tạp, không dùng lại</a:t>
            </a:r>
            <a:endParaRPr lang="en-US" sz="1400" dirty="0"/>
          </a:p>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Có chính sách hết hạn</a:t>
            </a:r>
            <a:endParaRPr lang="en-US" sz="1400" dirty="0"/>
          </a:p>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Dùng passphrase: chuỗi từ dài dễ nhớ</a:t>
            </a:r>
            <a:endParaRPr lang="en-US" sz="1400" dirty="0"/>
          </a:p>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Không dùng tên, ngày sinh, dãy số liền</a:t>
            </a:r>
            <a:endParaRPr lang="en-US" sz="1400" dirty="0"/>
          </a:p>
          <a:p>
            <a:pPr marL="156845" indent="-156845" algn="l">
              <a:lnSpc>
                <a:spcPts val="2030"/>
              </a:lnSpc>
              <a:buSzPct val="100000"/>
              <a:buChar char="•"/>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Dùng trình quản lý mật khẩu; máy chủ chỉ lưu hash có salt</a:t>
            </a:r>
            <a:endParaRPr lang="en-US" sz="1400" dirty="0"/>
          </a:p>
        </p:txBody>
      </p:sp>
      <p:sp>
        <p:nvSpPr>
          <p:cNvPr id="10" name="Text 8"/>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BẢO MẬT MÁY CHỦ</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Mười biện pháp củng cố khác</a:t>
            </a:r>
            <a:endParaRPr lang="en-US" sz="3000" dirty="0"/>
          </a:p>
        </p:txBody>
      </p:sp>
      <p:sp>
        <p:nvSpPr>
          <p:cNvPr id="4" name="Shape 2"/>
          <p:cNvSpPr/>
          <p:nvPr/>
        </p:nvSpPr>
        <p:spPr>
          <a:xfrm>
            <a:off x="815975" y="1797645"/>
            <a:ext cx="1984970" cy="1941182"/>
          </a:xfrm>
          <a:prstGeom prst="roundRect">
            <a:avLst>
              <a:gd name="adj" fmla="val 5070"/>
            </a:avLst>
          </a:prstGeom>
          <a:solidFill>
            <a:srgbClr val="FFFFFF"/>
          </a:solidFill>
          <a:ln w="6350">
            <a:solidFill>
              <a:srgbClr val="DCE3E1"/>
            </a:solidFill>
            <a:prstDash val="solid"/>
          </a:ln>
        </p:spPr>
      </p:sp>
      <p:sp>
        <p:nvSpPr>
          <p:cNvPr id="5" name="Text 3"/>
          <p:cNvSpPr/>
          <p:nvPr/>
        </p:nvSpPr>
        <p:spPr>
          <a:xfrm>
            <a:off x="994833" y="1976506"/>
            <a:ext cx="1678054" cy="4826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Cập nhật thường xuyên</a:t>
            </a:r>
            <a:endParaRPr lang="en-US" sz="1500" dirty="0"/>
          </a:p>
        </p:txBody>
      </p:sp>
      <p:sp>
        <p:nvSpPr>
          <p:cNvPr id="6" name="Text 4"/>
          <p:cNvSpPr/>
          <p:nvPr/>
        </p:nvSpPr>
        <p:spPr>
          <a:xfrm>
            <a:off x="994833" y="2509906"/>
            <a:ext cx="1678054" cy="4520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Vá lỗ hổng HĐH và dịch vụ</a:t>
            </a:r>
            <a:endParaRPr lang="en-US" sz="1200" dirty="0"/>
          </a:p>
        </p:txBody>
      </p:sp>
      <p:sp>
        <p:nvSpPr>
          <p:cNvPr id="7" name="Shape 5"/>
          <p:cNvSpPr/>
          <p:nvPr/>
        </p:nvSpPr>
        <p:spPr>
          <a:xfrm>
            <a:off x="2959695" y="1797645"/>
            <a:ext cx="1985037" cy="1941182"/>
          </a:xfrm>
          <a:prstGeom prst="roundRect">
            <a:avLst>
              <a:gd name="adj" fmla="val 5070"/>
            </a:avLst>
          </a:prstGeom>
          <a:solidFill>
            <a:srgbClr val="FFFFFF"/>
          </a:solidFill>
          <a:ln w="6350">
            <a:solidFill>
              <a:srgbClr val="DCE3E1"/>
            </a:solidFill>
            <a:prstDash val="solid"/>
          </a:ln>
        </p:spPr>
      </p:sp>
      <p:sp>
        <p:nvSpPr>
          <p:cNvPr id="8" name="Text 6"/>
          <p:cNvSpPr/>
          <p:nvPr/>
        </p:nvSpPr>
        <p:spPr>
          <a:xfrm>
            <a:off x="3138554" y="1976506"/>
            <a:ext cx="167812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Tắt dịch vụ thừa</a:t>
            </a:r>
            <a:endParaRPr lang="en-US" sz="1500" dirty="0"/>
          </a:p>
        </p:txBody>
      </p:sp>
      <p:sp>
        <p:nvSpPr>
          <p:cNvPr id="9" name="Text 7"/>
          <p:cNvSpPr/>
          <p:nvPr/>
        </p:nvSpPr>
        <p:spPr>
          <a:xfrm>
            <a:off x="3138554" y="2281306"/>
            <a:ext cx="167812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Giảm bề mặt tấn công</a:t>
            </a:r>
            <a:endParaRPr lang="en-US" sz="1200" dirty="0"/>
          </a:p>
        </p:txBody>
      </p:sp>
      <p:sp>
        <p:nvSpPr>
          <p:cNvPr id="10" name="Shape 8"/>
          <p:cNvSpPr/>
          <p:nvPr/>
        </p:nvSpPr>
        <p:spPr>
          <a:xfrm>
            <a:off x="5103482" y="1797645"/>
            <a:ext cx="1984970" cy="1941182"/>
          </a:xfrm>
          <a:prstGeom prst="roundRect">
            <a:avLst>
              <a:gd name="adj" fmla="val 5070"/>
            </a:avLst>
          </a:prstGeom>
          <a:solidFill>
            <a:srgbClr val="FFFFFF"/>
          </a:solidFill>
          <a:ln w="6350">
            <a:solidFill>
              <a:srgbClr val="DCE3E1"/>
            </a:solidFill>
            <a:prstDash val="solid"/>
          </a:ln>
        </p:spPr>
      </p:sp>
      <p:sp>
        <p:nvSpPr>
          <p:cNvPr id="11" name="Text 9"/>
          <p:cNvSpPr/>
          <p:nvPr/>
        </p:nvSpPr>
        <p:spPr>
          <a:xfrm>
            <a:off x="5282340" y="1976506"/>
            <a:ext cx="1678054" cy="4826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Ẩn thông tin máy chủ</a:t>
            </a:r>
            <a:endParaRPr lang="en-US" sz="1500" dirty="0"/>
          </a:p>
        </p:txBody>
      </p:sp>
      <p:sp>
        <p:nvSpPr>
          <p:cNvPr id="12" name="Text 10"/>
          <p:cNvSpPr/>
          <p:nvPr/>
        </p:nvSpPr>
        <p:spPr>
          <a:xfrm>
            <a:off x="5282340" y="2509906"/>
            <a:ext cx="1678054" cy="4520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Tắt banner và số phiên bản</a:t>
            </a:r>
            <a:endParaRPr lang="en-US" sz="1200" dirty="0"/>
          </a:p>
        </p:txBody>
      </p:sp>
      <p:sp>
        <p:nvSpPr>
          <p:cNvPr id="13" name="Shape 11"/>
          <p:cNvSpPr/>
          <p:nvPr/>
        </p:nvSpPr>
        <p:spPr>
          <a:xfrm>
            <a:off x="7247203" y="1797645"/>
            <a:ext cx="1985037" cy="1941182"/>
          </a:xfrm>
          <a:prstGeom prst="roundRect">
            <a:avLst>
              <a:gd name="adj" fmla="val 5070"/>
            </a:avLst>
          </a:prstGeom>
          <a:solidFill>
            <a:srgbClr val="FFFFFF"/>
          </a:solidFill>
          <a:ln w="6350">
            <a:solidFill>
              <a:srgbClr val="DCE3E1"/>
            </a:solidFill>
            <a:prstDash val="solid"/>
          </a:ln>
        </p:spPr>
      </p:sp>
      <p:sp>
        <p:nvSpPr>
          <p:cNvPr id="14" name="Text 12"/>
          <p:cNvSpPr/>
          <p:nvPr/>
        </p:nvSpPr>
        <p:spPr>
          <a:xfrm>
            <a:off x="7426061" y="1976506"/>
            <a:ext cx="167812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Hệ thống IDS</a:t>
            </a:r>
            <a:endParaRPr lang="en-US" sz="1500" dirty="0"/>
          </a:p>
        </p:txBody>
      </p:sp>
      <p:sp>
        <p:nvSpPr>
          <p:cNvPr id="15" name="Text 13"/>
          <p:cNvSpPr/>
          <p:nvPr/>
        </p:nvSpPr>
        <p:spPr>
          <a:xfrm>
            <a:off x="7426061" y="2281306"/>
            <a:ext cx="1678120" cy="4520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Phát hiện và cảnh báo xâm nhập</a:t>
            </a:r>
            <a:endParaRPr lang="en-US" sz="1200" dirty="0"/>
          </a:p>
        </p:txBody>
      </p:sp>
      <p:sp>
        <p:nvSpPr>
          <p:cNvPr id="16" name="Shape 14"/>
          <p:cNvSpPr/>
          <p:nvPr/>
        </p:nvSpPr>
        <p:spPr>
          <a:xfrm>
            <a:off x="9390989" y="1797645"/>
            <a:ext cx="1984970" cy="1941182"/>
          </a:xfrm>
          <a:prstGeom prst="roundRect">
            <a:avLst>
              <a:gd name="adj" fmla="val 5070"/>
            </a:avLst>
          </a:prstGeom>
          <a:solidFill>
            <a:srgbClr val="FFFFFF"/>
          </a:solidFill>
          <a:ln w="6350">
            <a:solidFill>
              <a:srgbClr val="DCE3E1"/>
            </a:solidFill>
            <a:prstDash val="solid"/>
          </a:ln>
        </p:spPr>
      </p:sp>
      <p:sp>
        <p:nvSpPr>
          <p:cNvPr id="17" name="Text 15"/>
          <p:cNvSpPr/>
          <p:nvPr/>
        </p:nvSpPr>
        <p:spPr>
          <a:xfrm>
            <a:off x="9569847" y="1976506"/>
            <a:ext cx="1678054"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Kiểm tra tệp tin</a:t>
            </a:r>
            <a:endParaRPr lang="en-US" sz="1500" dirty="0"/>
          </a:p>
        </p:txBody>
      </p:sp>
      <p:sp>
        <p:nvSpPr>
          <p:cNvPr id="18" name="Text 16"/>
          <p:cNvSpPr/>
          <p:nvPr/>
        </p:nvSpPr>
        <p:spPr>
          <a:xfrm>
            <a:off x="9569847" y="2281306"/>
            <a:ext cx="1678054" cy="4520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Phát hiện tệp bị sửa trái phép</a:t>
            </a:r>
            <a:endParaRPr lang="en-US" sz="1200" dirty="0"/>
          </a:p>
        </p:txBody>
      </p:sp>
      <p:sp>
        <p:nvSpPr>
          <p:cNvPr id="19" name="Shape 17"/>
          <p:cNvSpPr/>
          <p:nvPr/>
        </p:nvSpPr>
        <p:spPr>
          <a:xfrm>
            <a:off x="815975" y="3897579"/>
            <a:ext cx="1984970" cy="1941248"/>
          </a:xfrm>
          <a:prstGeom prst="roundRect">
            <a:avLst>
              <a:gd name="adj" fmla="val 5070"/>
            </a:avLst>
          </a:prstGeom>
          <a:solidFill>
            <a:srgbClr val="FFFFFF"/>
          </a:solidFill>
          <a:ln w="6350">
            <a:solidFill>
              <a:srgbClr val="DCE3E1"/>
            </a:solidFill>
            <a:prstDash val="solid"/>
          </a:ln>
        </p:spPr>
      </p:sp>
      <p:sp>
        <p:nvSpPr>
          <p:cNvPr id="20" name="Text 18"/>
          <p:cNvSpPr/>
          <p:nvPr/>
        </p:nvSpPr>
        <p:spPr>
          <a:xfrm>
            <a:off x="994833" y="4076436"/>
            <a:ext cx="1678054"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Kiểm tra dịch vụ</a:t>
            </a:r>
            <a:endParaRPr lang="en-US" sz="1500" dirty="0"/>
          </a:p>
        </p:txBody>
      </p:sp>
      <p:sp>
        <p:nvSpPr>
          <p:cNvPr id="21" name="Text 19"/>
          <p:cNvSpPr/>
          <p:nvPr/>
        </p:nvSpPr>
        <p:spPr>
          <a:xfrm>
            <a:off x="994833" y="4381236"/>
            <a:ext cx="1678054" cy="4520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Rà soát cổng và dịch vụ đang chạy</a:t>
            </a:r>
            <a:endParaRPr lang="en-US" sz="1200" dirty="0"/>
          </a:p>
        </p:txBody>
      </p:sp>
      <p:sp>
        <p:nvSpPr>
          <p:cNvPr id="22" name="Shape 20"/>
          <p:cNvSpPr/>
          <p:nvPr/>
        </p:nvSpPr>
        <p:spPr>
          <a:xfrm>
            <a:off x="2959695" y="3897579"/>
            <a:ext cx="1985037" cy="1941248"/>
          </a:xfrm>
          <a:prstGeom prst="roundRect">
            <a:avLst>
              <a:gd name="adj" fmla="val 5070"/>
            </a:avLst>
          </a:prstGeom>
          <a:solidFill>
            <a:srgbClr val="FFFFFF"/>
          </a:solidFill>
          <a:ln w="6350">
            <a:solidFill>
              <a:srgbClr val="DCE3E1"/>
            </a:solidFill>
            <a:prstDash val="solid"/>
          </a:ln>
        </p:spPr>
      </p:sp>
      <p:sp>
        <p:nvSpPr>
          <p:cNvPr id="23" name="Text 21"/>
          <p:cNvSpPr/>
          <p:nvPr/>
        </p:nvSpPr>
        <p:spPr>
          <a:xfrm>
            <a:off x="3138554" y="4076436"/>
            <a:ext cx="167812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Tường lửa</a:t>
            </a:r>
            <a:endParaRPr lang="en-US" sz="1500" dirty="0"/>
          </a:p>
        </p:txBody>
      </p:sp>
      <p:sp>
        <p:nvSpPr>
          <p:cNvPr id="24" name="Text 22"/>
          <p:cNvSpPr/>
          <p:nvPr/>
        </p:nvSpPr>
        <p:spPr>
          <a:xfrm>
            <a:off x="3138554" y="4381236"/>
            <a:ext cx="167812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Chỉ mở cổng cần thiết</a:t>
            </a:r>
            <a:endParaRPr lang="en-US" sz="1200" dirty="0"/>
          </a:p>
        </p:txBody>
      </p:sp>
      <p:sp>
        <p:nvSpPr>
          <p:cNvPr id="25" name="Shape 23"/>
          <p:cNvSpPr/>
          <p:nvPr/>
        </p:nvSpPr>
        <p:spPr>
          <a:xfrm>
            <a:off x="5103482" y="3897579"/>
            <a:ext cx="1984970" cy="1941248"/>
          </a:xfrm>
          <a:prstGeom prst="roundRect">
            <a:avLst>
              <a:gd name="adj" fmla="val 5070"/>
            </a:avLst>
          </a:prstGeom>
          <a:solidFill>
            <a:srgbClr val="FFFFFF"/>
          </a:solidFill>
          <a:ln w="6350">
            <a:solidFill>
              <a:srgbClr val="DCE3E1"/>
            </a:solidFill>
            <a:prstDash val="solid"/>
          </a:ln>
        </p:spPr>
      </p:sp>
      <p:sp>
        <p:nvSpPr>
          <p:cNvPr id="26" name="Text 24"/>
          <p:cNvSpPr/>
          <p:nvPr/>
        </p:nvSpPr>
        <p:spPr>
          <a:xfrm>
            <a:off x="5282340" y="4076436"/>
            <a:ext cx="1678054" cy="4826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Sao lưu dự phòng</a:t>
            </a:r>
            <a:endParaRPr lang="en-US" sz="1500" dirty="0"/>
          </a:p>
        </p:txBody>
      </p:sp>
      <p:sp>
        <p:nvSpPr>
          <p:cNvPr id="27" name="Text 25"/>
          <p:cNvSpPr/>
          <p:nvPr/>
        </p:nvSpPr>
        <p:spPr>
          <a:xfrm>
            <a:off x="5282340" y="4609836"/>
            <a:ext cx="1678054" cy="4520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Lưu khác nơi, thử khôi phục</a:t>
            </a:r>
            <a:endParaRPr lang="en-US" sz="1200" dirty="0"/>
          </a:p>
        </p:txBody>
      </p:sp>
      <p:sp>
        <p:nvSpPr>
          <p:cNvPr id="28" name="Shape 26"/>
          <p:cNvSpPr/>
          <p:nvPr/>
        </p:nvSpPr>
        <p:spPr>
          <a:xfrm>
            <a:off x="7247203" y="3897579"/>
            <a:ext cx="1985037" cy="1941248"/>
          </a:xfrm>
          <a:prstGeom prst="roundRect">
            <a:avLst>
              <a:gd name="adj" fmla="val 5070"/>
            </a:avLst>
          </a:prstGeom>
          <a:solidFill>
            <a:srgbClr val="FFFFFF"/>
          </a:solidFill>
          <a:ln w="6350">
            <a:solidFill>
              <a:srgbClr val="DCE3E1"/>
            </a:solidFill>
            <a:prstDash val="solid"/>
          </a:ln>
        </p:spPr>
      </p:sp>
      <p:sp>
        <p:nvSpPr>
          <p:cNvPr id="29" name="Text 27"/>
          <p:cNvSpPr/>
          <p:nvPr/>
        </p:nvSpPr>
        <p:spPr>
          <a:xfrm>
            <a:off x="7426061" y="4076436"/>
            <a:ext cx="1678120" cy="4826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Môi trường đa máy chủ</a:t>
            </a:r>
            <a:endParaRPr lang="en-US" sz="1500" dirty="0"/>
          </a:p>
        </p:txBody>
      </p:sp>
      <p:sp>
        <p:nvSpPr>
          <p:cNvPr id="30" name="Text 28"/>
          <p:cNvSpPr/>
          <p:nvPr/>
        </p:nvSpPr>
        <p:spPr>
          <a:xfrm>
            <a:off x="7426061" y="4609836"/>
            <a:ext cx="167812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Tách web, CSDL, mail</a:t>
            </a:r>
            <a:endParaRPr lang="en-US" sz="1200" dirty="0"/>
          </a:p>
        </p:txBody>
      </p:sp>
      <p:sp>
        <p:nvSpPr>
          <p:cNvPr id="31" name="Shape 29"/>
          <p:cNvSpPr/>
          <p:nvPr/>
        </p:nvSpPr>
        <p:spPr>
          <a:xfrm>
            <a:off x="9390989" y="3897579"/>
            <a:ext cx="1984970" cy="1941248"/>
          </a:xfrm>
          <a:prstGeom prst="roundRect">
            <a:avLst>
              <a:gd name="adj" fmla="val 5070"/>
            </a:avLst>
          </a:prstGeom>
          <a:solidFill>
            <a:srgbClr val="FFFFFF"/>
          </a:solidFill>
          <a:ln w="6350">
            <a:solidFill>
              <a:srgbClr val="DCE3E1"/>
            </a:solidFill>
            <a:prstDash val="solid"/>
          </a:ln>
        </p:spPr>
      </p:sp>
      <p:sp>
        <p:nvSpPr>
          <p:cNvPr id="32" name="Text 30"/>
          <p:cNvSpPr/>
          <p:nvPr/>
        </p:nvSpPr>
        <p:spPr>
          <a:xfrm>
            <a:off x="9569847" y="4076436"/>
            <a:ext cx="1678054" cy="4826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B7A6E"/>
                </a:solidFill>
                <a:latin typeface="Arial" panose="020B0604020202020204" pitchFamily="34" charset="0"/>
                <a:ea typeface="Arial" panose="020B0604020202020204" pitchFamily="34" charset="-122"/>
                <a:cs typeface="Arial" panose="020B0604020202020204" pitchFamily="34" charset="-120"/>
              </a:rPr>
              <a:t>Môi trường ảo cô lập</a:t>
            </a:r>
            <a:endParaRPr lang="en-US" sz="1500" dirty="0"/>
          </a:p>
        </p:txBody>
      </p:sp>
      <p:sp>
        <p:nvSpPr>
          <p:cNvPr id="33" name="Text 31"/>
          <p:cNvSpPr/>
          <p:nvPr/>
        </p:nvSpPr>
        <p:spPr>
          <a:xfrm>
            <a:off x="9569847" y="4609836"/>
            <a:ext cx="1678054" cy="4520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Máy ảo hoặc container cho từng dịch vụ</a:t>
            </a:r>
            <a:endParaRPr lang="en-US" sz="1200" dirty="0"/>
          </a:p>
        </p:txBody>
      </p:sp>
      <p:sp>
        <p:nvSpPr>
          <p:cNvPr id="34" name="Text 32"/>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E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2DD4BF"/>
                </a:solidFill>
                <a:latin typeface="Arial" panose="020B0604020202020204" pitchFamily="34" charset="0"/>
                <a:ea typeface="Arial" panose="020B0604020202020204" pitchFamily="34" charset="-122"/>
                <a:cs typeface="Arial" panose="020B0604020202020204" pitchFamily="34" charset="-120"/>
              </a:rPr>
              <a:t>PHẦN 2 · PHƯƠNG PHÁP XÁC THỰC</a:t>
            </a:r>
            <a:endParaRPr lang="en-US" sz="1400" dirty="0"/>
          </a:p>
        </p:txBody>
      </p:sp>
      <p:sp>
        <p:nvSpPr>
          <p:cNvPr id="3" name="Text 1"/>
          <p:cNvSpPr/>
          <p:nvPr>
            <p:ph type="title"/>
          </p:nvPr>
        </p:nvSpPr>
        <p:spPr>
          <a:xfrm>
            <a:off x="812800" y="1188709"/>
            <a:ext cx="9810750" cy="1198827"/>
          </a:xfrm>
          <a:prstGeom prst="rect">
            <a:avLst/>
          </a:prstGeom>
          <a:noFill/>
        </p:spPr>
        <p:txBody>
          <a:bodyPr wrap="square" lIns="0" tIns="0" rIns="0" bIns="0" rtlCol="0" anchor="t">
            <a:normAutofit/>
          </a:bodyPr>
          <a:lstStyle/>
          <a:p>
            <a:pPr marL="0" indent="0" algn="l">
              <a:lnSpc>
                <a:spcPts val="4620"/>
              </a:lnSpc>
              <a:buNone/>
            </a:pPr>
            <a:r>
              <a:rPr lang="en-US" sz="4200" b="1" i="0" dirty="0">
                <a:solidFill>
                  <a:srgbClr val="EAF1F6"/>
                </a:solidFill>
                <a:latin typeface="Arial" panose="020B0604020202020204" pitchFamily="34" charset="0"/>
                <a:ea typeface="Arial" panose="020B0604020202020204" pitchFamily="34" charset="-122"/>
                <a:cs typeface="Arial" panose="020B0604020202020204" pitchFamily="34" charset="-120"/>
              </a:rPr>
              <a:t>Chứng minh “bạn là ai” trước khi cấp quyền</a:t>
            </a:r>
            <a:endParaRPr lang="en-US" sz="4200" dirty="0"/>
          </a:p>
        </p:txBody>
      </p:sp>
      <p:sp>
        <p:nvSpPr>
          <p:cNvPr id="4" name="Shape 2"/>
          <p:cNvSpPr/>
          <p:nvPr/>
        </p:nvSpPr>
        <p:spPr>
          <a:xfrm>
            <a:off x="812800" y="3209330"/>
            <a:ext cx="3420533" cy="1297847"/>
          </a:xfrm>
          <a:prstGeom prst="roundRect">
            <a:avLst>
              <a:gd name="adj" fmla="val 7828"/>
            </a:avLst>
          </a:prstGeom>
          <a:solidFill>
            <a:srgbClr val="17283A"/>
          </a:solidFill>
        </p:spPr>
      </p:sp>
      <p:sp>
        <p:nvSpPr>
          <p:cNvPr id="5" name="Text 3"/>
          <p:cNvSpPr/>
          <p:nvPr/>
        </p:nvSpPr>
        <p:spPr>
          <a:xfrm>
            <a:off x="1016000" y="3412530"/>
            <a:ext cx="3104557"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2DD4BF"/>
                </a:solidFill>
                <a:latin typeface="Arial" panose="020B0604020202020204" pitchFamily="34" charset="0"/>
                <a:ea typeface="Arial" panose="020B0604020202020204" pitchFamily="34" charset="-122"/>
                <a:cs typeface="Arial" panose="020B0604020202020204" pitchFamily="34" charset="-120"/>
              </a:rPr>
              <a:t>Điều bạn biết</a:t>
            </a:r>
            <a:endParaRPr lang="en-US" sz="1800" dirty="0"/>
          </a:p>
        </p:txBody>
      </p:sp>
      <p:sp>
        <p:nvSpPr>
          <p:cNvPr id="6" name="Text 4"/>
          <p:cNvSpPr/>
          <p:nvPr/>
        </p:nvSpPr>
        <p:spPr>
          <a:xfrm>
            <a:off x="1113282" y="3788439"/>
            <a:ext cx="2999655" cy="540941"/>
          </a:xfrm>
          <a:prstGeom prst="rect">
            <a:avLst/>
          </a:prstGeom>
          <a:noFill/>
        </p:spPr>
        <p:txBody>
          <a:bodyPr wrap="square" lIns="0" tIns="0" rIns="0" bIns="0" rtlCol="0" anchor="t">
            <a:normAutofit/>
          </a:bodyPr>
          <a:lstStyle/>
          <a:p>
            <a:pPr marL="156845" indent="-156845" algn="l">
              <a:lnSpc>
                <a:spcPts val="2030"/>
              </a:lnSpc>
              <a:buSzPct val="100000"/>
              <a:buChar char="•"/>
            </a:pPr>
            <a:r>
              <a:rPr lang="en-US" sz="1400" dirty="0">
                <a:solidFill>
                  <a:srgbClr val="B7C6D4"/>
                </a:solidFill>
                <a:latin typeface="Arial" panose="020B0604020202020204" pitchFamily="34" charset="0"/>
                <a:ea typeface="Arial" panose="020B0604020202020204" pitchFamily="34" charset="-122"/>
                <a:cs typeface="Arial" panose="020B0604020202020204" pitchFamily="34" charset="-120"/>
              </a:rPr>
              <a:t>Mật khẩu, PIN</a:t>
            </a:r>
            <a:endParaRPr lang="en-US" sz="1400" dirty="0"/>
          </a:p>
          <a:p>
            <a:pPr marL="156845" indent="-156845" algn="l">
              <a:lnSpc>
                <a:spcPts val="2030"/>
              </a:lnSpc>
              <a:buSzPct val="100000"/>
              <a:buChar char="•"/>
            </a:pPr>
            <a:r>
              <a:rPr lang="en-US" sz="1400" dirty="0">
                <a:solidFill>
                  <a:srgbClr val="B7C6D4"/>
                </a:solidFill>
                <a:latin typeface="Arial" panose="020B0604020202020204" pitchFamily="34" charset="0"/>
                <a:ea typeface="Arial" panose="020B0604020202020204" pitchFamily="34" charset="-122"/>
                <a:cs typeface="Arial" panose="020B0604020202020204" pitchFamily="34" charset="-120"/>
              </a:rPr>
              <a:t>Câu hỏi bí mật</a:t>
            </a:r>
            <a:endParaRPr lang="en-US" sz="1400" dirty="0"/>
          </a:p>
        </p:txBody>
      </p:sp>
      <p:sp>
        <p:nvSpPr>
          <p:cNvPr id="7" name="Shape 5"/>
          <p:cNvSpPr/>
          <p:nvPr/>
        </p:nvSpPr>
        <p:spPr>
          <a:xfrm>
            <a:off x="4385733" y="3209330"/>
            <a:ext cx="3420533" cy="1297847"/>
          </a:xfrm>
          <a:prstGeom prst="roundRect">
            <a:avLst>
              <a:gd name="adj" fmla="val 7828"/>
            </a:avLst>
          </a:prstGeom>
          <a:solidFill>
            <a:srgbClr val="17283A"/>
          </a:solidFill>
        </p:spPr>
      </p:sp>
      <p:sp>
        <p:nvSpPr>
          <p:cNvPr id="8" name="Text 6"/>
          <p:cNvSpPr/>
          <p:nvPr/>
        </p:nvSpPr>
        <p:spPr>
          <a:xfrm>
            <a:off x="4588933" y="3412530"/>
            <a:ext cx="3104557"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2DD4BF"/>
                </a:solidFill>
                <a:latin typeface="Arial" panose="020B0604020202020204" pitchFamily="34" charset="0"/>
                <a:ea typeface="Arial" panose="020B0604020202020204" pitchFamily="34" charset="-122"/>
                <a:cs typeface="Arial" panose="020B0604020202020204" pitchFamily="34" charset="-120"/>
              </a:rPr>
              <a:t>Điều bạn có</a:t>
            </a:r>
            <a:endParaRPr lang="en-US" sz="1800" dirty="0"/>
          </a:p>
        </p:txBody>
      </p:sp>
      <p:sp>
        <p:nvSpPr>
          <p:cNvPr id="9" name="Text 7"/>
          <p:cNvSpPr/>
          <p:nvPr/>
        </p:nvSpPr>
        <p:spPr>
          <a:xfrm>
            <a:off x="4686215" y="3788439"/>
            <a:ext cx="2999655" cy="540941"/>
          </a:xfrm>
          <a:prstGeom prst="rect">
            <a:avLst/>
          </a:prstGeom>
          <a:noFill/>
        </p:spPr>
        <p:txBody>
          <a:bodyPr wrap="square" lIns="0" tIns="0" rIns="0" bIns="0" rtlCol="0" anchor="t">
            <a:normAutofit/>
          </a:bodyPr>
          <a:lstStyle/>
          <a:p>
            <a:pPr marL="156845" indent="-156845" algn="l">
              <a:lnSpc>
                <a:spcPts val="2030"/>
              </a:lnSpc>
              <a:buSzPct val="100000"/>
              <a:buChar char="•"/>
            </a:pPr>
            <a:r>
              <a:rPr lang="en-US" sz="1400" dirty="0">
                <a:solidFill>
                  <a:srgbClr val="B7C6D4"/>
                </a:solidFill>
                <a:latin typeface="Arial" panose="020B0604020202020204" pitchFamily="34" charset="0"/>
                <a:ea typeface="Arial" panose="020B0604020202020204" pitchFamily="34" charset="-122"/>
                <a:cs typeface="Arial" panose="020B0604020202020204" pitchFamily="34" charset="-120"/>
              </a:rPr>
              <a:t>Mã TOTP, token</a:t>
            </a:r>
            <a:endParaRPr lang="en-US" sz="1400" dirty="0"/>
          </a:p>
          <a:p>
            <a:pPr marL="156845" indent="-156845" algn="l">
              <a:lnSpc>
                <a:spcPts val="2030"/>
              </a:lnSpc>
              <a:buSzPct val="100000"/>
              <a:buChar char="•"/>
            </a:pPr>
            <a:r>
              <a:rPr lang="en-US" sz="1400" dirty="0">
                <a:solidFill>
                  <a:srgbClr val="B7C6D4"/>
                </a:solidFill>
                <a:latin typeface="Arial" panose="020B0604020202020204" pitchFamily="34" charset="0"/>
                <a:ea typeface="Arial" panose="020B0604020202020204" pitchFamily="34" charset="-122"/>
                <a:cs typeface="Arial" panose="020B0604020202020204" pitchFamily="34" charset="-120"/>
              </a:rPr>
              <a:t>Thẻ thông minh, chứng chỉ</a:t>
            </a:r>
            <a:endParaRPr lang="en-US" sz="1400" dirty="0"/>
          </a:p>
        </p:txBody>
      </p:sp>
      <p:sp>
        <p:nvSpPr>
          <p:cNvPr id="10" name="Shape 8"/>
          <p:cNvSpPr/>
          <p:nvPr/>
        </p:nvSpPr>
        <p:spPr>
          <a:xfrm>
            <a:off x="7958667" y="3209330"/>
            <a:ext cx="3420533" cy="1297847"/>
          </a:xfrm>
          <a:prstGeom prst="roundRect">
            <a:avLst>
              <a:gd name="adj" fmla="val 7828"/>
            </a:avLst>
          </a:prstGeom>
          <a:solidFill>
            <a:srgbClr val="17283A"/>
          </a:solidFill>
        </p:spPr>
      </p:sp>
      <p:sp>
        <p:nvSpPr>
          <p:cNvPr id="11" name="Text 9"/>
          <p:cNvSpPr/>
          <p:nvPr/>
        </p:nvSpPr>
        <p:spPr>
          <a:xfrm>
            <a:off x="8161867" y="3412530"/>
            <a:ext cx="3104557"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2DD4BF"/>
                </a:solidFill>
                <a:latin typeface="Arial" panose="020B0604020202020204" pitchFamily="34" charset="0"/>
                <a:ea typeface="Arial" panose="020B0604020202020204" pitchFamily="34" charset="-122"/>
                <a:cs typeface="Arial" panose="020B0604020202020204" pitchFamily="34" charset="-120"/>
              </a:rPr>
              <a:t>Điều bạn là</a:t>
            </a:r>
            <a:endParaRPr lang="en-US" sz="1800" dirty="0"/>
          </a:p>
        </p:txBody>
      </p:sp>
      <p:sp>
        <p:nvSpPr>
          <p:cNvPr id="12" name="Text 10"/>
          <p:cNvSpPr/>
          <p:nvPr/>
        </p:nvSpPr>
        <p:spPr>
          <a:xfrm>
            <a:off x="8259149" y="3788439"/>
            <a:ext cx="2999655" cy="540941"/>
          </a:xfrm>
          <a:prstGeom prst="rect">
            <a:avLst/>
          </a:prstGeom>
          <a:noFill/>
        </p:spPr>
        <p:txBody>
          <a:bodyPr wrap="square" lIns="0" tIns="0" rIns="0" bIns="0" rtlCol="0" anchor="t">
            <a:normAutofit/>
          </a:bodyPr>
          <a:lstStyle/>
          <a:p>
            <a:pPr marL="156845" indent="-156845" algn="l">
              <a:lnSpc>
                <a:spcPts val="2030"/>
              </a:lnSpc>
              <a:buSzPct val="100000"/>
              <a:buChar char="•"/>
            </a:pPr>
            <a:r>
              <a:rPr lang="en-US" sz="1400" dirty="0">
                <a:solidFill>
                  <a:srgbClr val="B7C6D4"/>
                </a:solidFill>
                <a:latin typeface="Arial" panose="020B0604020202020204" pitchFamily="34" charset="0"/>
                <a:ea typeface="Arial" panose="020B0604020202020204" pitchFamily="34" charset="-122"/>
                <a:cs typeface="Arial" panose="020B0604020202020204" pitchFamily="34" charset="-120"/>
              </a:rPr>
              <a:t>Vân tay, khuôn mặt</a:t>
            </a:r>
            <a:endParaRPr lang="en-US" sz="1400" dirty="0"/>
          </a:p>
          <a:p>
            <a:pPr marL="156845" indent="-156845" algn="l">
              <a:lnSpc>
                <a:spcPts val="2030"/>
              </a:lnSpc>
              <a:buSzPct val="100000"/>
              <a:buChar char="•"/>
            </a:pPr>
            <a:r>
              <a:rPr lang="en-US" sz="1400" dirty="0">
                <a:solidFill>
                  <a:srgbClr val="B7C6D4"/>
                </a:solidFill>
                <a:latin typeface="Arial" panose="020B0604020202020204" pitchFamily="34" charset="0"/>
                <a:ea typeface="Arial" panose="020B0604020202020204" pitchFamily="34" charset="-122"/>
                <a:cs typeface="Arial" panose="020B0604020202020204" pitchFamily="34" charset="-120"/>
              </a:rPr>
              <a:t>Giọng nói, mống mắt</a:t>
            </a:r>
            <a:endParaRPr lang="en-US" sz="1400" dirty="0"/>
          </a:p>
        </p:txBody>
      </p:sp>
      <p:sp>
        <p:nvSpPr>
          <p:cNvPr id="13" name="Text 11"/>
          <p:cNvSpPr/>
          <p:nvPr/>
        </p:nvSpPr>
        <p:spPr>
          <a:xfrm>
            <a:off x="812800" y="5354377"/>
            <a:ext cx="3826867" cy="487627"/>
          </a:xfrm>
          <a:prstGeom prst="roundRect">
            <a:avLst>
              <a:gd name="adj" fmla="val 50000"/>
            </a:avLst>
          </a:prstGeom>
          <a:solidFill>
            <a:srgbClr val="2DD4BF"/>
          </a:solidFill>
        </p:spPr>
        <p:txBody>
          <a:bodyPr wrap="none" lIns="0" tIns="0" rIns="0" bIns="0" rtlCol="0" anchor="ctr">
            <a:normAutofit/>
          </a:bodyPr>
          <a:lstStyle/>
          <a:p>
            <a:pPr marL="0" indent="0" algn="ctr">
              <a:lnSpc>
                <a:spcPts val="2240"/>
              </a:lnSpc>
              <a:buNone/>
            </a:pPr>
            <a:r>
              <a:rPr lang="en-US" sz="1600" b="1" dirty="0">
                <a:solidFill>
                  <a:srgbClr val="0F1E2E"/>
                </a:solidFill>
                <a:latin typeface="Arial" panose="020B0604020202020204" pitchFamily="34" charset="0"/>
                <a:ea typeface="Arial" panose="020B0604020202020204" pitchFamily="34" charset="-122"/>
                <a:cs typeface="Arial" panose="020B0604020202020204" pitchFamily="34" charset="-120"/>
              </a:rPr>
              <a:t>MFA = kết hợp từ hai yếu tố trở lên</a:t>
            </a:r>
            <a:endParaRPr lang="en-US" sz="1600" dirty="0"/>
          </a:p>
        </p:txBody>
      </p:sp>
      <p:sp>
        <p:nvSpPr>
          <p:cNvPr id="14" name="Text 12"/>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3B5"/>
                </a:solidFill>
                <a:latin typeface="Arial" panose="020B0604020202020204" pitchFamily="34" charset="0"/>
                <a:ea typeface="Arial" panose="020B0604020202020204" pitchFamily="34" charset="-122"/>
                <a:cs typeface="Arial" panose="020B0604020202020204" pitchFamily="34" charset="-120"/>
              </a:rPr>
              <a:t>Bảo mật máy chủ Web và Email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PHƯƠNG PHÁP XÁC THỰC</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Bốn nhóm phương pháp xác thực</a:t>
            </a:r>
            <a:endParaRPr lang="en-US" sz="3000" dirty="0"/>
          </a:p>
        </p:txBody>
      </p:sp>
      <p:graphicFrame>
        <p:nvGraphicFramePr>
          <p:cNvPr id="4" name="Table 0"/>
          <p:cNvGraphicFramePr>
            <a:graphicFrameLocks noGrp="1"/>
          </p:cNvGraphicFramePr>
          <p:nvPr/>
        </p:nvGraphicFramePr>
        <p:xfrm>
          <a:off x="825500" y="1807170"/>
          <a:ext cx="10553700" cy="1796521"/>
        </p:xfrm>
        <a:graphic>
          <a:graphicData uri="http://schemas.openxmlformats.org/drawingml/2006/table">
            <a:tbl>
              <a:tblPr/>
              <a:tblGrid>
                <a:gridCol w="1794129"/>
                <a:gridCol w="4432554"/>
                <a:gridCol w="4327017"/>
              </a:tblGrid>
              <a:tr h="359304">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Nhóm</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Phương pháp</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5B6B5"/>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Lưu ý</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5B6B5"/>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r>
              <a:tr h="359304">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Đăng nhập</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Mật khẩu, MFA, SSO, sinh trắc học, TOTP</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Bật MFA cho tài khoản quản trị và tài khoản SSO</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59304">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Mở rộng</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Theo rủi ro, theo hành vi, nhận dạng mẫu</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Thêm bước xác thực khi ngữ cảnh bất thường</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59304">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Truyền thông</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Câu hỏi bí mật (KBA), token, chứng chỉ số</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KBA chỉ là lớp phụ; token cần thời hạn ngắn</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59304">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Vật lý</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Thẻ thông minh, token vật lý</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Chống phishing tốt; có chi phí, có thể thất lạc</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GIAO THỨC XÁC THỰC</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Kerberos: xác thực bằng vé</a:t>
            </a:r>
            <a:endParaRPr lang="en-US" sz="3000" dirty="0"/>
          </a:p>
        </p:txBody>
      </p:sp>
      <p:pic>
        <p:nvPicPr>
          <p:cNvPr id="4" name="Image 0" descr="connector"/>
          <p:cNvPicPr>
            <a:picLocks noChangeAspect="1"/>
          </p:cNvPicPr>
          <p:nvPr/>
        </p:nvPicPr>
        <p:blipFill>
          <a:blip r:embed="rId1"/>
          <a:srcRect/>
          <a:stretch>
            <a:fillRect/>
          </a:stretch>
        </p:blipFill>
        <p:spPr>
          <a:xfrm>
            <a:off x="3035300" y="2286000"/>
            <a:ext cx="4216400" cy="1460500"/>
          </a:xfrm>
          <a:prstGeom prst="rect">
            <a:avLst/>
          </a:prstGeom>
        </p:spPr>
      </p:pic>
      <p:pic>
        <p:nvPicPr>
          <p:cNvPr id="5" name="Image 1" descr="connector"/>
          <p:cNvPicPr>
            <a:picLocks noChangeAspect="1"/>
          </p:cNvPicPr>
          <p:nvPr/>
        </p:nvPicPr>
        <p:blipFill>
          <a:blip r:embed="rId2"/>
          <a:srcRect/>
          <a:stretch>
            <a:fillRect/>
          </a:stretch>
        </p:blipFill>
        <p:spPr>
          <a:xfrm>
            <a:off x="3035300" y="3619500"/>
            <a:ext cx="4216400" cy="127000"/>
          </a:xfrm>
          <a:prstGeom prst="rect">
            <a:avLst/>
          </a:prstGeom>
        </p:spPr>
      </p:pic>
      <p:pic>
        <p:nvPicPr>
          <p:cNvPr id="6" name="Image 2" descr="connector"/>
          <p:cNvPicPr>
            <a:picLocks noChangeAspect="1"/>
          </p:cNvPicPr>
          <p:nvPr/>
        </p:nvPicPr>
        <p:blipFill>
          <a:blip r:embed="rId3"/>
          <a:srcRect/>
          <a:stretch>
            <a:fillRect/>
          </a:stretch>
        </p:blipFill>
        <p:spPr>
          <a:xfrm>
            <a:off x="3035300" y="3619500"/>
            <a:ext cx="4216400" cy="1460500"/>
          </a:xfrm>
          <a:prstGeom prst="rect">
            <a:avLst/>
          </a:prstGeom>
        </p:spPr>
      </p:pic>
      <p:sp>
        <p:nvSpPr>
          <p:cNvPr id="7" name="Shape 2"/>
          <p:cNvSpPr/>
          <p:nvPr/>
        </p:nvSpPr>
        <p:spPr>
          <a:xfrm>
            <a:off x="812800" y="3143250"/>
            <a:ext cx="2286000" cy="1079500"/>
          </a:xfrm>
          <a:prstGeom prst="roundRect">
            <a:avLst>
              <a:gd name="adj" fmla="val 9412"/>
            </a:avLst>
          </a:prstGeom>
          <a:solidFill>
            <a:srgbClr val="0F1E2E"/>
          </a:solidFill>
        </p:spPr>
      </p:sp>
      <p:sp>
        <p:nvSpPr>
          <p:cNvPr id="8" name="Text 3"/>
          <p:cNvSpPr/>
          <p:nvPr/>
        </p:nvSpPr>
        <p:spPr>
          <a:xfrm>
            <a:off x="965200" y="3404859"/>
            <a:ext cx="2040636" cy="299707"/>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2DD4BF"/>
                </a:solidFill>
                <a:latin typeface="Arial" panose="020B0604020202020204" pitchFamily="34" charset="0"/>
                <a:ea typeface="Arial" panose="020B0604020202020204" pitchFamily="34" charset="-122"/>
                <a:cs typeface="Arial" panose="020B0604020202020204" pitchFamily="34" charset="-120"/>
              </a:rPr>
              <a:t>Máy khách</a:t>
            </a:r>
            <a:endParaRPr lang="en-US" sz="1800" dirty="0"/>
          </a:p>
        </p:txBody>
      </p:sp>
      <p:sp>
        <p:nvSpPr>
          <p:cNvPr id="9" name="Text 4"/>
          <p:cNvSpPr/>
          <p:nvPr/>
        </p:nvSpPr>
        <p:spPr>
          <a:xfrm>
            <a:off x="965200" y="3729968"/>
            <a:ext cx="2040636"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Người dùng, ứng dụng</a:t>
            </a:r>
            <a:endParaRPr lang="en-US" sz="1300" dirty="0"/>
          </a:p>
        </p:txBody>
      </p:sp>
      <p:sp>
        <p:nvSpPr>
          <p:cNvPr id="10" name="Shape 5"/>
          <p:cNvSpPr/>
          <p:nvPr/>
        </p:nvSpPr>
        <p:spPr>
          <a:xfrm>
            <a:off x="7191375" y="1812925"/>
            <a:ext cx="4184650" cy="1073150"/>
          </a:xfrm>
          <a:prstGeom prst="roundRect">
            <a:avLst>
              <a:gd name="adj" fmla="val 9172"/>
            </a:avLst>
          </a:prstGeom>
          <a:solidFill>
            <a:srgbClr val="FFFFFF"/>
          </a:solidFill>
          <a:ln w="6350">
            <a:solidFill>
              <a:srgbClr val="DCE3E1"/>
            </a:solidFill>
            <a:prstDash val="solid"/>
          </a:ln>
        </p:spPr>
      </p:sp>
      <p:sp>
        <p:nvSpPr>
          <p:cNvPr id="11" name="Text 6"/>
          <p:cNvSpPr/>
          <p:nvPr/>
        </p:nvSpPr>
        <p:spPr>
          <a:xfrm>
            <a:off x="7344834" y="2086639"/>
            <a:ext cx="3994065"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1. Máy chủ xác thực (AS)</a:t>
            </a:r>
            <a:endParaRPr lang="en-US" sz="1600" dirty="0"/>
          </a:p>
        </p:txBody>
      </p:sp>
      <p:sp>
        <p:nvSpPr>
          <p:cNvPr id="12" name="Text 7"/>
          <p:cNvSpPr/>
          <p:nvPr/>
        </p:nvSpPr>
        <p:spPr>
          <a:xfrm>
            <a:off x="7344834" y="2381250"/>
            <a:ext cx="3994065"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Xác thực người dùng, cấp vé TGT</a:t>
            </a:r>
            <a:endParaRPr lang="en-US" sz="1300" dirty="0"/>
          </a:p>
        </p:txBody>
      </p:sp>
      <p:sp>
        <p:nvSpPr>
          <p:cNvPr id="13" name="Shape 8"/>
          <p:cNvSpPr/>
          <p:nvPr/>
        </p:nvSpPr>
        <p:spPr>
          <a:xfrm>
            <a:off x="7191375" y="3146425"/>
            <a:ext cx="4184650" cy="1073150"/>
          </a:xfrm>
          <a:prstGeom prst="roundRect">
            <a:avLst>
              <a:gd name="adj" fmla="val 9172"/>
            </a:avLst>
          </a:prstGeom>
          <a:solidFill>
            <a:srgbClr val="FFFFFF"/>
          </a:solidFill>
          <a:ln w="6350">
            <a:solidFill>
              <a:srgbClr val="DCE3E1"/>
            </a:solidFill>
            <a:prstDash val="solid"/>
          </a:ln>
        </p:spPr>
      </p:sp>
      <p:sp>
        <p:nvSpPr>
          <p:cNvPr id="14" name="Text 9"/>
          <p:cNvSpPr/>
          <p:nvPr/>
        </p:nvSpPr>
        <p:spPr>
          <a:xfrm>
            <a:off x="7344834" y="3420139"/>
            <a:ext cx="3994065"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2. Máy chủ cấp vé (TGS)</a:t>
            </a:r>
            <a:endParaRPr lang="en-US" sz="1600" dirty="0"/>
          </a:p>
        </p:txBody>
      </p:sp>
      <p:sp>
        <p:nvSpPr>
          <p:cNvPr id="15" name="Text 10"/>
          <p:cNvSpPr/>
          <p:nvPr/>
        </p:nvSpPr>
        <p:spPr>
          <a:xfrm>
            <a:off x="7344834" y="3714750"/>
            <a:ext cx="3994065"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Nhận TGT, cấp vé cho từng dịch vụ</a:t>
            </a:r>
            <a:endParaRPr lang="en-US" sz="1300" dirty="0"/>
          </a:p>
        </p:txBody>
      </p:sp>
      <p:sp>
        <p:nvSpPr>
          <p:cNvPr id="16" name="Shape 11"/>
          <p:cNvSpPr/>
          <p:nvPr/>
        </p:nvSpPr>
        <p:spPr>
          <a:xfrm>
            <a:off x="7191375" y="4479925"/>
            <a:ext cx="4184650" cy="1073150"/>
          </a:xfrm>
          <a:prstGeom prst="roundRect">
            <a:avLst>
              <a:gd name="adj" fmla="val 9172"/>
            </a:avLst>
          </a:prstGeom>
          <a:solidFill>
            <a:srgbClr val="FFFFFF"/>
          </a:solidFill>
          <a:ln w="6350">
            <a:solidFill>
              <a:srgbClr val="DCE3E1"/>
            </a:solidFill>
            <a:prstDash val="solid"/>
          </a:ln>
        </p:spPr>
      </p:sp>
      <p:sp>
        <p:nvSpPr>
          <p:cNvPr id="17" name="Text 12"/>
          <p:cNvSpPr/>
          <p:nvPr/>
        </p:nvSpPr>
        <p:spPr>
          <a:xfrm>
            <a:off x="7344834" y="4753639"/>
            <a:ext cx="3994065"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3. Máy chủ dịch vụ (SS)</a:t>
            </a:r>
            <a:endParaRPr lang="en-US" sz="1600" dirty="0"/>
          </a:p>
        </p:txBody>
      </p:sp>
      <p:sp>
        <p:nvSpPr>
          <p:cNvPr id="18" name="Text 13"/>
          <p:cNvSpPr/>
          <p:nvPr/>
        </p:nvSpPr>
        <p:spPr>
          <a:xfrm>
            <a:off x="7344834" y="5048250"/>
            <a:ext cx="3994065"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Kiểm tra vé dịch vụ, cho phép truy cập</a:t>
            </a:r>
            <a:endParaRPr lang="en-US" sz="1300" dirty="0"/>
          </a:p>
        </p:txBody>
      </p:sp>
      <p:sp>
        <p:nvSpPr>
          <p:cNvPr id="19" name="Text 14"/>
          <p:cNvSpPr/>
          <p:nvPr/>
        </p:nvSpPr>
        <p:spPr>
          <a:xfrm>
            <a:off x="812800" y="4445000"/>
            <a:ext cx="3924300" cy="540941"/>
          </a:xfrm>
          <a:prstGeom prst="rect">
            <a:avLst/>
          </a:prstGeom>
          <a:noFill/>
        </p:spPr>
        <p:txBody>
          <a:bodyPr wrap="square" lIns="0" tIns="0" rIns="0" bIns="0" rtlCol="0" anchor="t">
            <a:normAutofit/>
          </a:bodyPr>
          <a:lstStyle/>
          <a:p>
            <a:pPr marL="0" indent="0" algn="l">
              <a:lnSpc>
                <a:spcPts val="2030"/>
              </a:lnSpc>
              <a:buNone/>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Mật khẩu không đi qua mạng. Vé có thời hạn, cần đồng bộ thời gian giữa các máy.</a:t>
            </a:r>
            <a:endParaRPr lang="en-US" sz="1400" dirty="0"/>
          </a:p>
        </p:txBody>
      </p:sp>
      <p:sp>
        <p:nvSpPr>
          <p:cNvPr id="20" name="Text 15"/>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GIAO THỨC XÁC THỰC</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CHAP: bắt tay ba bước</a:t>
            </a:r>
            <a:endParaRPr lang="en-US" sz="3000" dirty="0"/>
          </a:p>
        </p:txBody>
      </p:sp>
      <p:sp>
        <p:nvSpPr>
          <p:cNvPr id="4" name="Shape 2"/>
          <p:cNvSpPr/>
          <p:nvPr/>
        </p:nvSpPr>
        <p:spPr>
          <a:xfrm>
            <a:off x="815975" y="1797645"/>
            <a:ext cx="3041650" cy="1805384"/>
          </a:xfrm>
          <a:prstGeom prst="roundRect">
            <a:avLst>
              <a:gd name="adj" fmla="val 5452"/>
            </a:avLst>
          </a:prstGeom>
          <a:solidFill>
            <a:srgbClr val="FFFFFF"/>
          </a:solidFill>
          <a:ln w="6350">
            <a:solidFill>
              <a:srgbClr val="DCE3E1"/>
            </a:solidFill>
            <a:prstDash val="solid"/>
          </a:ln>
        </p:spPr>
      </p:sp>
      <p:sp>
        <p:nvSpPr>
          <p:cNvPr id="5" name="Text 3"/>
          <p:cNvSpPr/>
          <p:nvPr/>
        </p:nvSpPr>
        <p:spPr>
          <a:xfrm>
            <a:off x="1020233" y="2001906"/>
            <a:ext cx="2712127" cy="523214"/>
          </a:xfrm>
          <a:prstGeom prst="rect">
            <a:avLst/>
          </a:prstGeom>
          <a:noFill/>
        </p:spPr>
        <p:txBody>
          <a:bodyPr wrap="square" lIns="0" tIns="0" rIns="0" bIns="0" rtlCol="0" anchor="t">
            <a:normAutofit/>
          </a:bodyPr>
          <a:lstStyle/>
          <a:p>
            <a:pPr marL="0" indent="0" algn="l">
              <a:lnSpc>
                <a:spcPts val="3920"/>
              </a:lnSpc>
              <a:buNone/>
            </a:pPr>
            <a:r>
              <a:rPr lang="en-US" sz="2800" b="1" dirty="0">
                <a:solidFill>
                  <a:srgbClr val="0B7A6E"/>
                </a:solidFill>
                <a:latin typeface="Arial" panose="020B0604020202020204" pitchFamily="34" charset="0"/>
                <a:ea typeface="Arial" panose="020B0604020202020204" pitchFamily="34" charset="-122"/>
                <a:cs typeface="Arial" panose="020B0604020202020204" pitchFamily="34" charset="-120"/>
              </a:rPr>
              <a:t>1</a:t>
            </a:r>
            <a:endParaRPr lang="en-US" sz="2800" dirty="0"/>
          </a:p>
        </p:txBody>
      </p:sp>
      <p:sp>
        <p:nvSpPr>
          <p:cNvPr id="6" name="Text 4"/>
          <p:cNvSpPr/>
          <p:nvPr/>
        </p:nvSpPr>
        <p:spPr>
          <a:xfrm>
            <a:off x="1020233" y="2588617"/>
            <a:ext cx="2712127"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1B2A38"/>
                </a:solidFill>
                <a:latin typeface="Arial" panose="020B0604020202020204" pitchFamily="34" charset="0"/>
                <a:ea typeface="Arial" panose="020B0604020202020204" pitchFamily="34" charset="-122"/>
                <a:cs typeface="Arial" panose="020B0604020202020204" pitchFamily="34" charset="-120"/>
              </a:rPr>
              <a:t>Thách thức</a:t>
            </a:r>
            <a:endParaRPr lang="en-US" sz="1700" dirty="0"/>
          </a:p>
        </p:txBody>
      </p:sp>
      <p:sp>
        <p:nvSpPr>
          <p:cNvPr id="7" name="Text 5"/>
          <p:cNvSpPr/>
          <p:nvPr/>
        </p:nvSpPr>
        <p:spPr>
          <a:xfrm>
            <a:off x="1020233" y="2936546"/>
            <a:ext cx="27121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Máy chủ gửi một giá trị ngẫu nhiên cho máy khách</a:t>
            </a:r>
            <a:endParaRPr lang="en-US" sz="1300" dirty="0"/>
          </a:p>
        </p:txBody>
      </p:sp>
      <p:pic>
        <p:nvPicPr>
          <p:cNvPr id="8" name="Image 0" descr="arrow-right"/>
          <p:cNvPicPr>
            <a:picLocks noChangeAspect="1"/>
          </p:cNvPicPr>
          <p:nvPr/>
        </p:nvPicPr>
        <p:blipFill>
          <a:blip r:embed="rId1"/>
          <a:srcRect/>
          <a:stretch>
            <a:fillRect/>
          </a:stretch>
        </p:blipFill>
        <p:spPr>
          <a:xfrm>
            <a:off x="4013200" y="2586038"/>
            <a:ext cx="406400" cy="228600"/>
          </a:xfrm>
          <a:prstGeom prst="rect">
            <a:avLst/>
          </a:prstGeom>
        </p:spPr>
      </p:pic>
      <p:sp>
        <p:nvSpPr>
          <p:cNvPr id="9" name="Shape 6"/>
          <p:cNvSpPr/>
          <p:nvPr/>
        </p:nvSpPr>
        <p:spPr>
          <a:xfrm>
            <a:off x="4575175" y="1797645"/>
            <a:ext cx="3041650" cy="1805384"/>
          </a:xfrm>
          <a:prstGeom prst="roundRect">
            <a:avLst>
              <a:gd name="adj" fmla="val 5452"/>
            </a:avLst>
          </a:prstGeom>
          <a:solidFill>
            <a:srgbClr val="FFFFFF"/>
          </a:solidFill>
          <a:ln w="6350">
            <a:solidFill>
              <a:srgbClr val="DCE3E1"/>
            </a:solidFill>
            <a:prstDash val="solid"/>
          </a:ln>
        </p:spPr>
      </p:sp>
      <p:sp>
        <p:nvSpPr>
          <p:cNvPr id="10" name="Text 7"/>
          <p:cNvSpPr/>
          <p:nvPr/>
        </p:nvSpPr>
        <p:spPr>
          <a:xfrm>
            <a:off x="4779433" y="2001906"/>
            <a:ext cx="2712127" cy="523214"/>
          </a:xfrm>
          <a:prstGeom prst="rect">
            <a:avLst/>
          </a:prstGeom>
          <a:noFill/>
        </p:spPr>
        <p:txBody>
          <a:bodyPr wrap="square" lIns="0" tIns="0" rIns="0" bIns="0" rtlCol="0" anchor="t">
            <a:normAutofit/>
          </a:bodyPr>
          <a:lstStyle/>
          <a:p>
            <a:pPr marL="0" indent="0" algn="l">
              <a:lnSpc>
                <a:spcPts val="3920"/>
              </a:lnSpc>
              <a:buNone/>
            </a:pPr>
            <a:r>
              <a:rPr lang="en-US" sz="2800" b="1" dirty="0">
                <a:solidFill>
                  <a:srgbClr val="0B7A6E"/>
                </a:solidFill>
                <a:latin typeface="Arial" panose="020B0604020202020204" pitchFamily="34" charset="0"/>
                <a:ea typeface="Arial" panose="020B0604020202020204" pitchFamily="34" charset="-122"/>
                <a:cs typeface="Arial" panose="020B0604020202020204" pitchFamily="34" charset="-120"/>
              </a:rPr>
              <a:t>2</a:t>
            </a:r>
            <a:endParaRPr lang="en-US" sz="2800" dirty="0"/>
          </a:p>
        </p:txBody>
      </p:sp>
      <p:sp>
        <p:nvSpPr>
          <p:cNvPr id="11" name="Text 8"/>
          <p:cNvSpPr/>
          <p:nvPr/>
        </p:nvSpPr>
        <p:spPr>
          <a:xfrm>
            <a:off x="4779433" y="2588617"/>
            <a:ext cx="2712127"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1B2A38"/>
                </a:solidFill>
                <a:latin typeface="Arial" panose="020B0604020202020204" pitchFamily="34" charset="0"/>
                <a:ea typeface="Arial" panose="020B0604020202020204" pitchFamily="34" charset="-122"/>
                <a:cs typeface="Arial" panose="020B0604020202020204" pitchFamily="34" charset="-120"/>
              </a:rPr>
              <a:t>Phản ứng</a:t>
            </a:r>
            <a:endParaRPr lang="en-US" sz="1700" dirty="0"/>
          </a:p>
        </p:txBody>
      </p:sp>
      <p:sp>
        <p:nvSpPr>
          <p:cNvPr id="12" name="Text 9"/>
          <p:cNvSpPr/>
          <p:nvPr/>
        </p:nvSpPr>
        <p:spPr>
          <a:xfrm>
            <a:off x="4779433" y="2936546"/>
            <a:ext cx="27121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Máy khách băm giá trị đó cùng bí mật chung rồi gửi kết quả</a:t>
            </a:r>
            <a:endParaRPr lang="en-US" sz="1300" dirty="0"/>
          </a:p>
        </p:txBody>
      </p:sp>
      <p:pic>
        <p:nvPicPr>
          <p:cNvPr id="13" name="Image 1" descr="arrow-right"/>
          <p:cNvPicPr>
            <a:picLocks noChangeAspect="1"/>
          </p:cNvPicPr>
          <p:nvPr/>
        </p:nvPicPr>
        <p:blipFill>
          <a:blip r:embed="rId1"/>
          <a:srcRect/>
          <a:stretch>
            <a:fillRect/>
          </a:stretch>
        </p:blipFill>
        <p:spPr>
          <a:xfrm>
            <a:off x="7772400" y="2586038"/>
            <a:ext cx="406400" cy="228600"/>
          </a:xfrm>
          <a:prstGeom prst="rect">
            <a:avLst/>
          </a:prstGeom>
        </p:spPr>
      </p:pic>
      <p:sp>
        <p:nvSpPr>
          <p:cNvPr id="14" name="Shape 10"/>
          <p:cNvSpPr/>
          <p:nvPr/>
        </p:nvSpPr>
        <p:spPr>
          <a:xfrm>
            <a:off x="8334375" y="1797645"/>
            <a:ext cx="3041650" cy="1805384"/>
          </a:xfrm>
          <a:prstGeom prst="roundRect">
            <a:avLst>
              <a:gd name="adj" fmla="val 5452"/>
            </a:avLst>
          </a:prstGeom>
          <a:solidFill>
            <a:srgbClr val="FFFFFF"/>
          </a:solidFill>
          <a:ln w="6350">
            <a:solidFill>
              <a:srgbClr val="DCE3E1"/>
            </a:solidFill>
            <a:prstDash val="solid"/>
          </a:ln>
        </p:spPr>
      </p:sp>
      <p:sp>
        <p:nvSpPr>
          <p:cNvPr id="15" name="Text 11"/>
          <p:cNvSpPr/>
          <p:nvPr/>
        </p:nvSpPr>
        <p:spPr>
          <a:xfrm>
            <a:off x="8538634" y="2001906"/>
            <a:ext cx="2712127" cy="523214"/>
          </a:xfrm>
          <a:prstGeom prst="rect">
            <a:avLst/>
          </a:prstGeom>
          <a:noFill/>
        </p:spPr>
        <p:txBody>
          <a:bodyPr wrap="square" lIns="0" tIns="0" rIns="0" bIns="0" rtlCol="0" anchor="t">
            <a:normAutofit/>
          </a:bodyPr>
          <a:lstStyle/>
          <a:p>
            <a:pPr marL="0" indent="0" algn="l">
              <a:lnSpc>
                <a:spcPts val="3920"/>
              </a:lnSpc>
              <a:buNone/>
            </a:pPr>
            <a:r>
              <a:rPr lang="en-US" sz="2800" b="1" dirty="0">
                <a:solidFill>
                  <a:srgbClr val="0B7A6E"/>
                </a:solidFill>
                <a:latin typeface="Arial" panose="020B0604020202020204" pitchFamily="34" charset="0"/>
                <a:ea typeface="Arial" panose="020B0604020202020204" pitchFamily="34" charset="-122"/>
                <a:cs typeface="Arial" panose="020B0604020202020204" pitchFamily="34" charset="-120"/>
              </a:rPr>
              <a:t>3</a:t>
            </a:r>
            <a:endParaRPr lang="en-US" sz="2800" dirty="0"/>
          </a:p>
        </p:txBody>
      </p:sp>
      <p:sp>
        <p:nvSpPr>
          <p:cNvPr id="16" name="Text 12"/>
          <p:cNvSpPr/>
          <p:nvPr/>
        </p:nvSpPr>
        <p:spPr>
          <a:xfrm>
            <a:off x="8538634" y="2588617"/>
            <a:ext cx="2712127"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1B2A38"/>
                </a:solidFill>
                <a:latin typeface="Arial" panose="020B0604020202020204" pitchFamily="34" charset="0"/>
                <a:ea typeface="Arial" panose="020B0604020202020204" pitchFamily="34" charset="-122"/>
                <a:cs typeface="Arial" panose="020B0604020202020204" pitchFamily="34" charset="-120"/>
              </a:rPr>
              <a:t>Xác minh</a:t>
            </a:r>
            <a:endParaRPr lang="en-US" sz="1700" dirty="0"/>
          </a:p>
        </p:txBody>
      </p:sp>
      <p:sp>
        <p:nvSpPr>
          <p:cNvPr id="17" name="Text 13"/>
          <p:cNvSpPr/>
          <p:nvPr/>
        </p:nvSpPr>
        <p:spPr>
          <a:xfrm>
            <a:off x="8538634" y="2936546"/>
            <a:ext cx="27121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Máy chủ tự tính lại và so khớp; khớp thì chấp nhận</a:t>
            </a:r>
            <a:endParaRPr lang="en-US" sz="1300" dirty="0"/>
          </a:p>
        </p:txBody>
      </p:sp>
      <p:sp>
        <p:nvSpPr>
          <p:cNvPr id="18" name="Text 14"/>
          <p:cNvSpPr/>
          <p:nvPr/>
        </p:nvSpPr>
        <p:spPr>
          <a:xfrm>
            <a:off x="812800" y="3860205"/>
            <a:ext cx="9810750" cy="577850"/>
          </a:xfrm>
          <a:prstGeom prst="rect">
            <a:avLst/>
          </a:prstGeom>
          <a:noFill/>
        </p:spPr>
        <p:txBody>
          <a:bodyPr wrap="square" lIns="0" tIns="0" rIns="0" bIns="0" rtlCol="0" anchor="t">
            <a:normAutofit/>
          </a:bodyPr>
          <a:lstStyle/>
          <a:p>
            <a:pPr marL="0" indent="0" algn="l">
              <a:lnSpc>
                <a:spcPts val="2175"/>
              </a:lnSpc>
              <a:buNone/>
            </a:pPr>
            <a:r>
              <a:rPr lang="en-US" sz="1500" dirty="0">
                <a:solidFill>
                  <a:srgbClr val="3C4A57"/>
                </a:solidFill>
                <a:latin typeface="Arial" panose="020B0604020202020204" pitchFamily="34" charset="0"/>
                <a:ea typeface="Arial" panose="020B0604020202020204" pitchFamily="34" charset="-122"/>
                <a:cs typeface="Arial" panose="020B0604020202020204" pitchFamily="34" charset="-120"/>
              </a:rPr>
              <a:t>Mật khẩu không đi qua mạng và thách thức có thể lặp lại giữa phiên để chống phát lại. Máy chủ giữ bí mật chung nên chỉ dùng trên đường truyền được bảo vệ.</a:t>
            </a:r>
            <a:endParaRPr lang="en-US" sz="1500" dirty="0"/>
          </a:p>
        </p:txBody>
      </p:sp>
      <p:sp>
        <p:nvSpPr>
          <p:cNvPr id="19" name="Text 15"/>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PHẦN 3 · BẢO MẬT WEB</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Session, cookie và cache</a:t>
            </a:r>
            <a:endParaRPr lang="en-US" sz="3000" dirty="0"/>
          </a:p>
        </p:txBody>
      </p:sp>
      <p:graphicFrame>
        <p:nvGraphicFramePr>
          <p:cNvPr id="4" name="Table 0"/>
          <p:cNvGraphicFramePr>
            <a:graphicFrameLocks noGrp="1"/>
          </p:cNvGraphicFramePr>
          <p:nvPr/>
        </p:nvGraphicFramePr>
        <p:xfrm>
          <a:off x="825500" y="1807170"/>
          <a:ext cx="10553700" cy="2130558"/>
        </p:xfrm>
        <a:graphic>
          <a:graphicData uri="http://schemas.openxmlformats.org/drawingml/2006/table">
            <a:tbl>
              <a:tblPr/>
              <a:tblGrid>
                <a:gridCol w="1266444"/>
                <a:gridCol w="2955036"/>
                <a:gridCol w="1899666"/>
                <a:gridCol w="4432554"/>
              </a:tblGrid>
              <a:tr h="359304">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Loại</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Hoạt động</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5B6B5"/>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Lưu ở</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5B6B5"/>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Lưu ý bảo mật</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5B6B5"/>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r>
              <a:tr h="590418">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Session</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Máy chủ cấp Session ID để nhớ trạng thái đăng nhập</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Máy chủ web</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ID ngẫu nhiên; tái tạo sau đăng nhập; có hạn; hủy khi đăng xuất</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590418">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Cookie</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Mảnh dữ liệu nhỏ, trình duyệt gửi lại mỗi yêu cầu</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Máy người dùng</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Không chứa dữ liệu nhạy cảm; đặt cờ Secure, HttpOnly, SameSite</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590418">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Cache</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Lưu bản sao để tải nhanh hơn</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Máy người dùng, proxy</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Không cache trang nhạy cảm; cập nhật đúng cách</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BẢO MẬT WEB</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Tấn công phổ biến và cách chống chính</a:t>
            </a:r>
            <a:endParaRPr lang="en-US" sz="3000" dirty="0"/>
          </a:p>
        </p:txBody>
      </p:sp>
      <p:sp>
        <p:nvSpPr>
          <p:cNvPr id="4" name="Shape 2"/>
          <p:cNvSpPr/>
          <p:nvPr/>
        </p:nvSpPr>
        <p:spPr>
          <a:xfrm>
            <a:off x="815975" y="1797645"/>
            <a:ext cx="3414183" cy="4041180"/>
          </a:xfrm>
          <a:prstGeom prst="roundRect">
            <a:avLst>
              <a:gd name="adj" fmla="val 2883"/>
            </a:avLst>
          </a:prstGeom>
          <a:solidFill>
            <a:srgbClr val="FFFFFF"/>
          </a:solidFill>
          <a:ln w="6350">
            <a:solidFill>
              <a:srgbClr val="DCE3E1"/>
            </a:solidFill>
            <a:prstDash val="solid"/>
          </a:ln>
        </p:spPr>
      </p:sp>
      <p:sp>
        <p:nvSpPr>
          <p:cNvPr id="5" name="Text 3"/>
          <p:cNvSpPr/>
          <p:nvPr/>
        </p:nvSpPr>
        <p:spPr>
          <a:xfrm>
            <a:off x="994833" y="1976506"/>
            <a:ext cx="3148161"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Chèn mã vào ứng dụng</a:t>
            </a:r>
            <a:endParaRPr lang="en-US" sz="1600" dirty="0"/>
          </a:p>
        </p:txBody>
      </p:sp>
      <p:sp>
        <p:nvSpPr>
          <p:cNvPr id="6" name="Text 4"/>
          <p:cNvSpPr/>
          <p:nvPr/>
        </p:nvSpPr>
        <p:spPr>
          <a:xfrm>
            <a:off x="1106339" y="2334617"/>
            <a:ext cx="3029035" cy="1092002"/>
          </a:xfrm>
          <a:prstGeom prst="rect">
            <a:avLst/>
          </a:prstGeom>
          <a:noFill/>
        </p:spPr>
        <p:txBody>
          <a:bodyPr wrap="square" lIns="0" tIns="0" rIns="0" bIns="0" rtlCol="0" anchor="t">
            <a:normAutofit/>
          </a:bodyPr>
          <a:lstStyle/>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SQLi:</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câu lệnh tham số hóa</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XSS:</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mã hóa đầu ra, CSP</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CSRF:</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token, cookie SameSite</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Clickjacking:</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X-Frame-Options</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Tải tệp độc hại:</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lọc loại tệp</a:t>
            </a:r>
            <a:endParaRPr lang="en-US" sz="1200" dirty="0"/>
          </a:p>
        </p:txBody>
      </p:sp>
      <p:sp>
        <p:nvSpPr>
          <p:cNvPr id="7" name="Shape 5"/>
          <p:cNvSpPr/>
          <p:nvPr/>
        </p:nvSpPr>
        <p:spPr>
          <a:xfrm>
            <a:off x="4388908" y="1797645"/>
            <a:ext cx="3414183" cy="4041180"/>
          </a:xfrm>
          <a:prstGeom prst="roundRect">
            <a:avLst>
              <a:gd name="adj" fmla="val 2883"/>
            </a:avLst>
          </a:prstGeom>
          <a:solidFill>
            <a:srgbClr val="FFFFFF"/>
          </a:solidFill>
          <a:ln w="6350">
            <a:solidFill>
              <a:srgbClr val="DCE3E1"/>
            </a:solidFill>
            <a:prstDash val="solid"/>
          </a:ln>
        </p:spPr>
      </p:sp>
      <p:sp>
        <p:nvSpPr>
          <p:cNvPr id="8" name="Text 6"/>
          <p:cNvSpPr/>
          <p:nvPr/>
        </p:nvSpPr>
        <p:spPr>
          <a:xfrm>
            <a:off x="4567767" y="1976506"/>
            <a:ext cx="3148161"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Khai thác máy chủ, tệp</a:t>
            </a:r>
            <a:endParaRPr lang="en-US" sz="1600" dirty="0"/>
          </a:p>
        </p:txBody>
      </p:sp>
      <p:sp>
        <p:nvSpPr>
          <p:cNvPr id="9" name="Text 7"/>
          <p:cNvSpPr/>
          <p:nvPr/>
        </p:nvSpPr>
        <p:spPr>
          <a:xfrm>
            <a:off x="4679273" y="2334617"/>
            <a:ext cx="3029035" cy="1305322"/>
          </a:xfrm>
          <a:prstGeom prst="rect">
            <a:avLst/>
          </a:prstGeom>
          <a:noFill/>
        </p:spPr>
        <p:txBody>
          <a:bodyPr wrap="square" lIns="0" tIns="0" rIns="0" bIns="0" rtlCol="0" anchor="t">
            <a:normAutofit/>
          </a:bodyPr>
          <a:lstStyle/>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SSRF:</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danh sách đích cho phép</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XXE:</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tắt thực thể ngoại XML</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RFI:</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tắt include từ URL</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Directory traversal:</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chuẩn hóa đường dẫn</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XSSI:</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không trả dữ liệu dạng script</a:t>
            </a:r>
            <a:endParaRPr lang="en-US" sz="1200" dirty="0"/>
          </a:p>
        </p:txBody>
      </p:sp>
      <p:sp>
        <p:nvSpPr>
          <p:cNvPr id="10" name="Shape 8"/>
          <p:cNvSpPr/>
          <p:nvPr/>
        </p:nvSpPr>
        <p:spPr>
          <a:xfrm>
            <a:off x="7961842" y="1797645"/>
            <a:ext cx="3414183" cy="4041180"/>
          </a:xfrm>
          <a:prstGeom prst="roundRect">
            <a:avLst>
              <a:gd name="adj" fmla="val 2883"/>
            </a:avLst>
          </a:prstGeom>
          <a:solidFill>
            <a:srgbClr val="FFFFFF"/>
          </a:solidFill>
          <a:ln w="6350">
            <a:solidFill>
              <a:srgbClr val="DCE3E1"/>
            </a:solidFill>
            <a:prstDash val="solid"/>
          </a:ln>
        </p:spPr>
      </p:sp>
      <p:sp>
        <p:nvSpPr>
          <p:cNvPr id="11" name="Text 9"/>
          <p:cNvSpPr/>
          <p:nvPr/>
        </p:nvSpPr>
        <p:spPr>
          <a:xfrm>
            <a:off x="8140700" y="1976506"/>
            <a:ext cx="3232150"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B7A6E"/>
                </a:solidFill>
                <a:latin typeface="Arial" panose="020B0604020202020204" pitchFamily="34" charset="0"/>
                <a:ea typeface="Arial" panose="020B0604020202020204" pitchFamily="34" charset="-122"/>
                <a:cs typeface="Arial" panose="020B0604020202020204" pitchFamily="34" charset="-120"/>
              </a:rPr>
              <a:t>Danh tính, phiên, đường truyền</a:t>
            </a:r>
            <a:endParaRPr lang="en-US" sz="1600" dirty="0"/>
          </a:p>
        </p:txBody>
      </p:sp>
      <p:sp>
        <p:nvSpPr>
          <p:cNvPr id="12" name="Text 10"/>
          <p:cNvSpPr/>
          <p:nvPr/>
        </p:nvSpPr>
        <p:spPr>
          <a:xfrm>
            <a:off x="8252206" y="2334617"/>
            <a:ext cx="3029035" cy="1305322"/>
          </a:xfrm>
          <a:prstGeom prst="rect">
            <a:avLst/>
          </a:prstGeom>
          <a:noFill/>
        </p:spPr>
        <p:txBody>
          <a:bodyPr wrap="square" lIns="0" tIns="0" rIns="0" bIns="0" rtlCol="0" anchor="t">
            <a:normAutofit/>
          </a:bodyPr>
          <a:lstStyle/>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Brute force:</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giới hạn lần thử, CAPTCHA</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Credential stuffing:</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MFA</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Session fixation:</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tạo lại Session ID</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Phishing:</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MFA, đào tạo người dùng</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MitM:</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HTTPS, HSTS</a:t>
            </a:r>
            <a:endParaRPr lang="en-US" sz="1200" dirty="0"/>
          </a:p>
          <a:p>
            <a:pPr marL="142240" indent="-142240" algn="l">
              <a:lnSpc>
                <a:spcPts val="1680"/>
              </a:lnSpc>
              <a:buSzPct val="100000"/>
              <a:buChar char="•"/>
            </a:pPr>
            <a:r>
              <a:rPr lang="en-US" sz="1200" b="1" dirty="0">
                <a:solidFill>
                  <a:srgbClr val="3C4A57"/>
                </a:solidFill>
                <a:latin typeface="Arial" panose="020B0604020202020204" pitchFamily="34" charset="0"/>
                <a:ea typeface="Arial" panose="020B0604020202020204" pitchFamily="34" charset="-122"/>
                <a:cs typeface="Arial" panose="020B0604020202020204" pitchFamily="34" charset="-120"/>
              </a:rPr>
              <a:t>DDoS:</a:t>
            </a:r>
            <a:r>
              <a:rPr lang="en-US" sz="1200" dirty="0">
                <a:solidFill>
                  <a:srgbClr val="3C4A57"/>
                </a:solidFill>
                <a:latin typeface="Arial" panose="020B0604020202020204" pitchFamily="34" charset="0"/>
                <a:ea typeface="Arial" panose="020B0604020202020204" pitchFamily="34" charset="-122"/>
                <a:cs typeface="Arial" panose="020B0604020202020204" pitchFamily="34" charset="-120"/>
              </a:rPr>
              <a:t> CDN, WAF, giới hạn tốc độ</a:t>
            </a:r>
            <a:endParaRPr lang="en-US" sz="1200" dirty="0"/>
          </a:p>
        </p:txBody>
      </p:sp>
      <p:sp>
        <p:nvSpPr>
          <p:cNvPr id="13" name="Text 11"/>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BẢO MẬT WEB</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Phòng thủ nhiều lớp cho máy chủ Web</a:t>
            </a:r>
            <a:endParaRPr lang="en-US" sz="3000" dirty="0"/>
          </a:p>
        </p:txBody>
      </p:sp>
      <p:sp>
        <p:nvSpPr>
          <p:cNvPr id="4" name="Shape 2"/>
          <p:cNvSpPr/>
          <p:nvPr/>
        </p:nvSpPr>
        <p:spPr>
          <a:xfrm>
            <a:off x="812800" y="1794470"/>
            <a:ext cx="3937000" cy="4047530"/>
          </a:xfrm>
          <a:prstGeom prst="roundRect">
            <a:avLst>
              <a:gd name="adj" fmla="val 2581"/>
            </a:avLst>
          </a:prstGeom>
          <a:solidFill>
            <a:srgbClr val="0F1E2E"/>
          </a:solidFill>
        </p:spPr>
      </p:sp>
      <p:sp>
        <p:nvSpPr>
          <p:cNvPr id="5" name="Text 3"/>
          <p:cNvSpPr/>
          <p:nvPr/>
        </p:nvSpPr>
        <p:spPr>
          <a:xfrm>
            <a:off x="1041400" y="2023070"/>
            <a:ext cx="3584194"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2DD4BF"/>
                </a:solidFill>
                <a:latin typeface="Arial" panose="020B0604020202020204" pitchFamily="34" charset="0"/>
                <a:ea typeface="Arial" panose="020B0604020202020204" pitchFamily="34" charset="-122"/>
                <a:cs typeface="Arial" panose="020B0604020202020204" pitchFamily="34" charset="-120"/>
              </a:rPr>
              <a:t>Các lớp bảo vệ</a:t>
            </a:r>
            <a:endParaRPr lang="en-US" sz="1700" dirty="0"/>
          </a:p>
        </p:txBody>
      </p:sp>
      <p:sp>
        <p:nvSpPr>
          <p:cNvPr id="6" name="Text 4"/>
          <p:cNvSpPr/>
          <p:nvPr/>
        </p:nvSpPr>
        <p:spPr>
          <a:xfrm>
            <a:off x="1097690" y="2409099"/>
            <a:ext cx="3520284" cy="1625600"/>
          </a:xfrm>
          <a:prstGeom prst="rect">
            <a:avLst/>
          </a:prstGeom>
          <a:noFill/>
        </p:spPr>
        <p:txBody>
          <a:bodyPr wrap="square" lIns="0" tIns="0" rIns="0" bIns="0" rtlCol="0" anchor="t">
            <a:normAutofit/>
          </a:bodyPr>
          <a:lstStyle/>
          <a:p>
            <a:pPr marL="197485" indent="-197485" algn="l">
              <a:lnSpc>
                <a:spcPts val="2100"/>
              </a:lnSpc>
              <a:buSzPct val="100000"/>
              <a:buFontTx/>
              <a:buAutoNum type="arabicPeriod"/>
            </a:pPr>
            <a:r>
              <a:rPr lang="en-US" sz="1400" dirty="0">
                <a:solidFill>
                  <a:srgbClr val="EAF1F6"/>
                </a:solidFill>
                <a:latin typeface="Arial" panose="020B0604020202020204" pitchFamily="34" charset="0"/>
                <a:ea typeface="Arial" panose="020B0604020202020204" pitchFamily="34" charset="-122"/>
                <a:cs typeface="Arial" panose="020B0604020202020204" pitchFamily="34" charset="-120"/>
              </a:rPr>
              <a:t>Xác thực mạnh, MFA</a:t>
            </a:r>
            <a:endParaRPr lang="en-US" sz="1400" dirty="0"/>
          </a:p>
          <a:p>
            <a:pPr marL="197485" indent="-197485" algn="l">
              <a:lnSpc>
                <a:spcPts val="2100"/>
              </a:lnSpc>
              <a:buSzPct val="100000"/>
              <a:buFontTx/>
              <a:buAutoNum type="arabicPeriod"/>
            </a:pPr>
            <a:r>
              <a:rPr lang="en-US" sz="1400" dirty="0">
                <a:solidFill>
                  <a:srgbClr val="EAF1F6"/>
                </a:solidFill>
                <a:latin typeface="Arial" panose="020B0604020202020204" pitchFamily="34" charset="0"/>
                <a:ea typeface="Arial" panose="020B0604020202020204" pitchFamily="34" charset="-122"/>
                <a:cs typeface="Arial" panose="020B0604020202020204" pitchFamily="34" charset="-120"/>
              </a:rPr>
              <a:t>Củng cố máy chủ</a:t>
            </a:r>
            <a:endParaRPr lang="en-US" sz="1400" dirty="0"/>
          </a:p>
          <a:p>
            <a:pPr marL="197485" indent="-197485" algn="l">
              <a:lnSpc>
                <a:spcPts val="2100"/>
              </a:lnSpc>
              <a:buSzPct val="100000"/>
              <a:buFontTx/>
              <a:buAutoNum type="arabicPeriod"/>
            </a:pPr>
            <a:r>
              <a:rPr lang="en-US" sz="1400" dirty="0">
                <a:solidFill>
                  <a:srgbClr val="EAF1F6"/>
                </a:solidFill>
                <a:latin typeface="Arial" panose="020B0604020202020204" pitchFamily="34" charset="0"/>
                <a:ea typeface="Arial" panose="020B0604020202020204" pitchFamily="34" charset="-122"/>
                <a:cs typeface="Arial" panose="020B0604020202020204" pitchFamily="34" charset="-120"/>
              </a:rPr>
              <a:t>Tường lửa, IDS/IPS</a:t>
            </a:r>
            <a:endParaRPr lang="en-US" sz="1400" dirty="0"/>
          </a:p>
          <a:p>
            <a:pPr marL="197485" indent="-197485" algn="l">
              <a:lnSpc>
                <a:spcPts val="2100"/>
              </a:lnSpc>
              <a:buSzPct val="100000"/>
              <a:buFontTx/>
              <a:buAutoNum type="arabicPeriod"/>
            </a:pPr>
            <a:r>
              <a:rPr lang="en-US" sz="1400" dirty="0">
                <a:solidFill>
                  <a:srgbClr val="EAF1F6"/>
                </a:solidFill>
                <a:latin typeface="Arial" panose="020B0604020202020204" pitchFamily="34" charset="0"/>
                <a:ea typeface="Arial" panose="020B0604020202020204" pitchFamily="34" charset="-122"/>
                <a:cs typeface="Arial" panose="020B0604020202020204" pitchFamily="34" charset="-120"/>
              </a:rPr>
              <a:t>Cấu hình web server an toàn</a:t>
            </a:r>
            <a:endParaRPr lang="en-US" sz="1400" dirty="0"/>
          </a:p>
          <a:p>
            <a:pPr marL="197485" indent="-197485" algn="l">
              <a:lnSpc>
                <a:spcPts val="2100"/>
              </a:lnSpc>
              <a:buSzPct val="100000"/>
              <a:buFontTx/>
              <a:buAutoNum type="arabicPeriod"/>
            </a:pPr>
            <a:r>
              <a:rPr lang="en-US" sz="1400" dirty="0">
                <a:solidFill>
                  <a:srgbClr val="EAF1F6"/>
                </a:solidFill>
                <a:latin typeface="Arial" panose="020B0604020202020204" pitchFamily="34" charset="0"/>
                <a:ea typeface="Arial" panose="020B0604020202020204" pitchFamily="34" charset="-122"/>
                <a:cs typeface="Arial" panose="020B0604020202020204" pitchFamily="34" charset="-120"/>
              </a:rPr>
              <a:t>Security header</a:t>
            </a:r>
            <a:endParaRPr lang="en-US" sz="1400" dirty="0"/>
          </a:p>
          <a:p>
            <a:pPr marL="197485" indent="-197485" algn="l">
              <a:lnSpc>
                <a:spcPts val="2100"/>
              </a:lnSpc>
              <a:buSzPct val="100000"/>
              <a:buFontTx/>
              <a:buAutoNum type="arabicPeriod"/>
            </a:pPr>
            <a:r>
              <a:rPr lang="en-US" sz="1400" dirty="0">
                <a:solidFill>
                  <a:srgbClr val="EAF1F6"/>
                </a:solidFill>
                <a:latin typeface="Arial" panose="020B0604020202020204" pitchFamily="34" charset="0"/>
                <a:ea typeface="Arial" panose="020B0604020202020204" pitchFamily="34" charset="-122"/>
                <a:cs typeface="Arial" panose="020B0604020202020204" pitchFamily="34" charset="-120"/>
              </a:rPr>
              <a:t>Web Application Firewall</a:t>
            </a:r>
            <a:endParaRPr lang="en-US" sz="1400" dirty="0"/>
          </a:p>
        </p:txBody>
      </p:sp>
      <p:sp>
        <p:nvSpPr>
          <p:cNvPr id="7" name="Shape 5"/>
          <p:cNvSpPr/>
          <p:nvPr/>
        </p:nvSpPr>
        <p:spPr>
          <a:xfrm>
            <a:off x="4956175" y="1797645"/>
            <a:ext cx="6419850" cy="4041180"/>
          </a:xfrm>
          <a:prstGeom prst="roundRect">
            <a:avLst>
              <a:gd name="adj" fmla="val 2436"/>
            </a:avLst>
          </a:prstGeom>
          <a:solidFill>
            <a:srgbClr val="FFFFFF"/>
          </a:solidFill>
          <a:ln w="6350">
            <a:solidFill>
              <a:srgbClr val="DCE3E1"/>
            </a:solidFill>
            <a:prstDash val="solid"/>
          </a:ln>
        </p:spPr>
      </p:sp>
      <p:sp>
        <p:nvSpPr>
          <p:cNvPr id="8" name="Text 6"/>
          <p:cNvSpPr/>
          <p:nvPr/>
        </p:nvSpPr>
        <p:spPr>
          <a:xfrm>
            <a:off x="5185833" y="2027306"/>
            <a:ext cx="6139349"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B7A6E"/>
                </a:solidFill>
                <a:latin typeface="Arial" panose="020B0604020202020204" pitchFamily="34" charset="0"/>
                <a:ea typeface="Arial" panose="020B0604020202020204" pitchFamily="34" charset="-122"/>
                <a:cs typeface="Arial" panose="020B0604020202020204" pitchFamily="34" charset="-120"/>
              </a:rPr>
              <a:t>Security header</a:t>
            </a:r>
            <a:endParaRPr lang="en-US" sz="1700" dirty="0"/>
          </a:p>
        </p:txBody>
      </p:sp>
      <p:graphicFrame>
        <p:nvGraphicFramePr>
          <p:cNvPr id="9" name="Table 0"/>
          <p:cNvGraphicFramePr>
            <a:graphicFrameLocks noGrp="1"/>
          </p:cNvGraphicFramePr>
          <p:nvPr/>
        </p:nvGraphicFramePr>
        <p:xfrm>
          <a:off x="5198533" y="2426035"/>
          <a:ext cx="5947833" cy="1995884"/>
        </p:xfrm>
        <a:graphic>
          <a:graphicData uri="http://schemas.openxmlformats.org/drawingml/2006/table">
            <a:tbl>
              <a:tblPr/>
              <a:tblGrid>
                <a:gridCol w="2736003"/>
                <a:gridCol w="3211830"/>
              </a:tblGrid>
              <a:tr h="332647">
                <a:tc>
                  <a:txBody>
                    <a:bodyPr/>
                    <a:lstStyle/>
                    <a:p>
                      <a:pPr marL="0" indent="0">
                        <a:lnSpc>
                          <a:spcPts val="1680"/>
                        </a:lnSpc>
                        <a:buNone/>
                      </a:pPr>
                      <a:r>
                        <a:rPr lang="en-US" sz="1200" b="1" dirty="0">
                          <a:solidFill>
                            <a:srgbClr val="1B2A38"/>
                          </a:solidFill>
                          <a:latin typeface="Arial" panose="020B0604020202020204" pitchFamily="34" charset="0"/>
                          <a:ea typeface="Arial" panose="020B0604020202020204" pitchFamily="34" charset="-122"/>
                          <a:cs typeface="Arial" panose="020B0604020202020204" pitchFamily="34" charset="-120"/>
                        </a:rPr>
                        <a:t>Header</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B2A38"/>
                          </a:solidFill>
                          <a:latin typeface="Arial" panose="020B0604020202020204" pitchFamily="34" charset="0"/>
                          <a:ea typeface="Arial" panose="020B0604020202020204" pitchFamily="34" charset="-122"/>
                          <a:cs typeface="Arial" panose="020B0604020202020204" pitchFamily="34" charset="-120"/>
                        </a:rPr>
                        <a:t>Tác dụng</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Strict-Transport-Security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Luôn dùng HTTPS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Content-Security-Policy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Giới hạn nguồn script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X-Frame-Options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Chống clickjacking</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X-Content-Type-Options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Chặn đoán kiểu nội dung</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Referrer-Policy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Kiểm soát thông tin Referer</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7"/>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E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2DD4BF"/>
                </a:solidFill>
                <a:latin typeface="Arial" panose="020B0604020202020204" pitchFamily="34" charset="0"/>
                <a:ea typeface="Arial" panose="020B0604020202020204" pitchFamily="34" charset="-122"/>
                <a:cs typeface="Arial" panose="020B0604020202020204" pitchFamily="34" charset="-120"/>
              </a:rPr>
              <a:t>PHẦN 4 · BẢO MẬT EMAIL</a:t>
            </a:r>
            <a:endParaRPr lang="en-US" sz="1400" dirty="0"/>
          </a:p>
        </p:txBody>
      </p:sp>
      <p:sp>
        <p:nvSpPr>
          <p:cNvPr id="3" name="Text 1"/>
          <p:cNvSpPr/>
          <p:nvPr>
            <p:ph type="title"/>
          </p:nvPr>
        </p:nvSpPr>
        <p:spPr>
          <a:xfrm>
            <a:off x="812800" y="1188709"/>
            <a:ext cx="9810750" cy="1198827"/>
          </a:xfrm>
          <a:prstGeom prst="rect">
            <a:avLst/>
          </a:prstGeom>
          <a:noFill/>
        </p:spPr>
        <p:txBody>
          <a:bodyPr wrap="square" lIns="0" tIns="0" rIns="0" bIns="0" rtlCol="0" anchor="t">
            <a:normAutofit/>
          </a:bodyPr>
          <a:lstStyle/>
          <a:p>
            <a:pPr marL="0" indent="0" algn="l">
              <a:lnSpc>
                <a:spcPts val="4620"/>
              </a:lnSpc>
              <a:buNone/>
            </a:pPr>
            <a:r>
              <a:rPr lang="en-US" sz="4200" b="1" i="0" dirty="0">
                <a:solidFill>
                  <a:srgbClr val="EAF1F6"/>
                </a:solidFill>
                <a:latin typeface="Arial" panose="020B0604020202020204" pitchFamily="34" charset="0"/>
                <a:ea typeface="Arial" panose="020B0604020202020204" pitchFamily="34" charset="-122"/>
                <a:cs typeface="Arial" panose="020B0604020202020204" pitchFamily="34" charset="-120"/>
              </a:rPr>
              <a:t>SMTP gốc không xác thực người gửi</a:t>
            </a:r>
            <a:endParaRPr lang="en-US" sz="4200" dirty="0"/>
          </a:p>
        </p:txBody>
      </p:sp>
      <p:sp>
        <p:nvSpPr>
          <p:cNvPr id="4" name="Text 2"/>
          <p:cNvSpPr/>
          <p:nvPr/>
        </p:nvSpPr>
        <p:spPr>
          <a:xfrm>
            <a:off x="812800" y="2489138"/>
            <a:ext cx="9156700" cy="338402"/>
          </a:xfrm>
          <a:prstGeom prst="rect">
            <a:avLst/>
          </a:prstGeom>
          <a:noFill/>
        </p:spPr>
        <p:txBody>
          <a:bodyPr wrap="square" lIns="0" tIns="0" rIns="0" bIns="0" rtlCol="0" anchor="t">
            <a:normAutofit/>
          </a:bodyPr>
          <a:lstStyle/>
          <a:p>
            <a:pPr marL="0" indent="0" algn="l">
              <a:lnSpc>
                <a:spcPts val="2465"/>
              </a:lnSpc>
              <a:buNone/>
            </a:pPr>
            <a:r>
              <a:rPr lang="en-US" sz="1700" dirty="0">
                <a:solidFill>
                  <a:srgbClr val="B7C6D4"/>
                </a:solidFill>
                <a:latin typeface="Arial" panose="020B0604020202020204" pitchFamily="34" charset="0"/>
                <a:ea typeface="Arial" panose="020B0604020202020204" pitchFamily="34" charset="-122"/>
                <a:cs typeface="Arial" panose="020B0604020202020204" pitchFamily="34" charset="-120"/>
              </a:rPr>
              <a:t>Mỗi mối đe dọa cần một lớp bảo vệ riêng.</a:t>
            </a:r>
            <a:endParaRPr lang="en-US" sz="1700" dirty="0"/>
          </a:p>
        </p:txBody>
      </p:sp>
      <p:sp>
        <p:nvSpPr>
          <p:cNvPr id="5" name="Shape 3"/>
          <p:cNvSpPr/>
          <p:nvPr/>
        </p:nvSpPr>
        <p:spPr>
          <a:xfrm>
            <a:off x="812800" y="4653359"/>
            <a:ext cx="2527300" cy="1188641"/>
          </a:xfrm>
          <a:prstGeom prst="roundRect">
            <a:avLst>
              <a:gd name="adj" fmla="val 8548"/>
            </a:avLst>
          </a:prstGeom>
          <a:solidFill>
            <a:srgbClr val="17283A"/>
          </a:solidFill>
        </p:spPr>
      </p:sp>
      <p:sp>
        <p:nvSpPr>
          <p:cNvPr id="6" name="Text 4"/>
          <p:cNvSpPr/>
          <p:nvPr/>
        </p:nvSpPr>
        <p:spPr>
          <a:xfrm>
            <a:off x="1016000" y="4856559"/>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DD4BF"/>
                </a:solidFill>
                <a:latin typeface="Arial" panose="020B0604020202020204" pitchFamily="34" charset="0"/>
                <a:ea typeface="Arial" panose="020B0604020202020204" pitchFamily="34" charset="-122"/>
                <a:cs typeface="Arial" panose="020B0604020202020204" pitchFamily="34" charset="-120"/>
              </a:rPr>
              <a:t>Giả mạo, phishing</a:t>
            </a:r>
            <a:endParaRPr lang="en-US" sz="1600" dirty="0"/>
          </a:p>
        </p:txBody>
      </p:sp>
      <p:sp>
        <p:nvSpPr>
          <p:cNvPr id="7" name="Text 5"/>
          <p:cNvSpPr/>
          <p:nvPr/>
        </p:nvSpPr>
        <p:spPr>
          <a:xfrm>
            <a:off x="1016000" y="5176577"/>
            <a:ext cx="2184527"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SPF, DKIM, DMARC</a:t>
            </a:r>
            <a:endParaRPr lang="en-US" sz="1300" dirty="0"/>
          </a:p>
        </p:txBody>
      </p:sp>
      <p:sp>
        <p:nvSpPr>
          <p:cNvPr id="8" name="Shape 6"/>
          <p:cNvSpPr/>
          <p:nvPr/>
        </p:nvSpPr>
        <p:spPr>
          <a:xfrm>
            <a:off x="3492500" y="4653359"/>
            <a:ext cx="2527300" cy="1188641"/>
          </a:xfrm>
          <a:prstGeom prst="roundRect">
            <a:avLst>
              <a:gd name="adj" fmla="val 8548"/>
            </a:avLst>
          </a:prstGeom>
          <a:solidFill>
            <a:srgbClr val="17283A"/>
          </a:solidFill>
        </p:spPr>
      </p:sp>
      <p:sp>
        <p:nvSpPr>
          <p:cNvPr id="9" name="Text 7"/>
          <p:cNvSpPr/>
          <p:nvPr/>
        </p:nvSpPr>
        <p:spPr>
          <a:xfrm>
            <a:off x="3695700" y="4856559"/>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DD4BF"/>
                </a:solidFill>
                <a:latin typeface="Arial" panose="020B0604020202020204" pitchFamily="34" charset="0"/>
                <a:ea typeface="Arial" panose="020B0604020202020204" pitchFamily="34" charset="-122"/>
                <a:cs typeface="Arial" panose="020B0604020202020204" pitchFamily="34" charset="-120"/>
              </a:rPr>
              <a:t>Spam, mã độc</a:t>
            </a:r>
            <a:endParaRPr lang="en-US" sz="1600" dirty="0"/>
          </a:p>
        </p:txBody>
      </p:sp>
      <p:sp>
        <p:nvSpPr>
          <p:cNvPr id="10" name="Text 8"/>
          <p:cNvSpPr/>
          <p:nvPr/>
        </p:nvSpPr>
        <p:spPr>
          <a:xfrm>
            <a:off x="3695700" y="5176577"/>
            <a:ext cx="21845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Secure Email Gateway, lọc nội dung</a:t>
            </a:r>
            <a:endParaRPr lang="en-US" sz="1300" dirty="0"/>
          </a:p>
        </p:txBody>
      </p:sp>
      <p:sp>
        <p:nvSpPr>
          <p:cNvPr id="11" name="Shape 9"/>
          <p:cNvSpPr/>
          <p:nvPr/>
        </p:nvSpPr>
        <p:spPr>
          <a:xfrm>
            <a:off x="6172200" y="4653359"/>
            <a:ext cx="2527300" cy="1188641"/>
          </a:xfrm>
          <a:prstGeom prst="roundRect">
            <a:avLst>
              <a:gd name="adj" fmla="val 8548"/>
            </a:avLst>
          </a:prstGeom>
          <a:solidFill>
            <a:srgbClr val="17283A"/>
          </a:solidFill>
        </p:spPr>
      </p:sp>
      <p:sp>
        <p:nvSpPr>
          <p:cNvPr id="12" name="Text 10"/>
          <p:cNvSpPr/>
          <p:nvPr/>
        </p:nvSpPr>
        <p:spPr>
          <a:xfrm>
            <a:off x="6375400" y="4856559"/>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DD4BF"/>
                </a:solidFill>
                <a:latin typeface="Arial" panose="020B0604020202020204" pitchFamily="34" charset="0"/>
                <a:ea typeface="Arial" panose="020B0604020202020204" pitchFamily="34" charset="-122"/>
                <a:cs typeface="Arial" panose="020B0604020202020204" pitchFamily="34" charset="-120"/>
              </a:rPr>
              <a:t>Nghe lén</a:t>
            </a:r>
            <a:endParaRPr lang="en-US" sz="1600" dirty="0"/>
          </a:p>
        </p:txBody>
      </p:sp>
      <p:sp>
        <p:nvSpPr>
          <p:cNvPr id="13" name="Text 11"/>
          <p:cNvSpPr/>
          <p:nvPr/>
        </p:nvSpPr>
        <p:spPr>
          <a:xfrm>
            <a:off x="6375400" y="5176577"/>
            <a:ext cx="218452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TLS trên đường truyền, E2EE</a:t>
            </a:r>
            <a:endParaRPr lang="en-US" sz="1300" dirty="0"/>
          </a:p>
        </p:txBody>
      </p:sp>
      <p:sp>
        <p:nvSpPr>
          <p:cNvPr id="14" name="Shape 12"/>
          <p:cNvSpPr/>
          <p:nvPr/>
        </p:nvSpPr>
        <p:spPr>
          <a:xfrm>
            <a:off x="8851900" y="4653359"/>
            <a:ext cx="2527300" cy="1188641"/>
          </a:xfrm>
          <a:prstGeom prst="roundRect">
            <a:avLst>
              <a:gd name="adj" fmla="val 8548"/>
            </a:avLst>
          </a:prstGeom>
          <a:solidFill>
            <a:srgbClr val="17283A"/>
          </a:solidFill>
        </p:spPr>
      </p:sp>
      <p:sp>
        <p:nvSpPr>
          <p:cNvPr id="15" name="Text 13"/>
          <p:cNvSpPr/>
          <p:nvPr/>
        </p:nvSpPr>
        <p:spPr>
          <a:xfrm>
            <a:off x="9055100" y="4856559"/>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2DD4BF"/>
                </a:solidFill>
                <a:latin typeface="Arial" panose="020B0604020202020204" pitchFamily="34" charset="0"/>
                <a:ea typeface="Arial" panose="020B0604020202020204" pitchFamily="34" charset="-122"/>
                <a:cs typeface="Arial" panose="020B0604020202020204" pitchFamily="34" charset="-120"/>
              </a:rPr>
              <a:t>Rò rỉ dữ liệu</a:t>
            </a:r>
            <a:endParaRPr lang="en-US" sz="1600" dirty="0"/>
          </a:p>
        </p:txBody>
      </p:sp>
      <p:sp>
        <p:nvSpPr>
          <p:cNvPr id="16" name="Text 14"/>
          <p:cNvSpPr/>
          <p:nvPr/>
        </p:nvSpPr>
        <p:spPr>
          <a:xfrm>
            <a:off x="9055100" y="5176577"/>
            <a:ext cx="2184527" cy="25651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7C6D4"/>
                </a:solidFill>
                <a:latin typeface="Arial" panose="020B0604020202020204" pitchFamily="34" charset="0"/>
                <a:ea typeface="Arial" panose="020B0604020202020204" pitchFamily="34" charset="-122"/>
                <a:cs typeface="Arial" panose="020B0604020202020204" pitchFamily="34" charset="-120"/>
              </a:rPr>
              <a:t>DLP, đào tạo người dùng</a:t>
            </a:r>
            <a:endParaRPr lang="en-US" sz="1300" dirty="0"/>
          </a:p>
        </p:txBody>
      </p:sp>
      <p:sp>
        <p:nvSpPr>
          <p:cNvPr id="17" name="Text 15"/>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3B5"/>
                </a:solidFill>
                <a:latin typeface="Arial" panose="020B0604020202020204" pitchFamily="34" charset="0"/>
                <a:ea typeface="Arial" panose="020B0604020202020204" pitchFamily="34" charset="-122"/>
                <a:cs typeface="Arial" panose="020B0604020202020204" pitchFamily="34" charset="-120"/>
              </a:rPr>
              <a:t>Bảo mật máy chủ Web và Email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BẢO MẬT EMAIL</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Mã hóa thư: TLS và E2EE</a:t>
            </a:r>
            <a:endParaRPr lang="en-US" sz="3000" dirty="0"/>
          </a:p>
        </p:txBody>
      </p:sp>
      <p:sp>
        <p:nvSpPr>
          <p:cNvPr id="4" name="Shape 2"/>
          <p:cNvSpPr/>
          <p:nvPr/>
        </p:nvSpPr>
        <p:spPr>
          <a:xfrm>
            <a:off x="815975" y="1797645"/>
            <a:ext cx="5175250" cy="3271639"/>
          </a:xfrm>
          <a:prstGeom prst="roundRect">
            <a:avLst>
              <a:gd name="adj" fmla="val 3008"/>
            </a:avLst>
          </a:prstGeom>
          <a:solidFill>
            <a:srgbClr val="FFFFFF"/>
          </a:solidFill>
          <a:ln w="6350">
            <a:solidFill>
              <a:srgbClr val="DCE3E1"/>
            </a:solidFill>
            <a:prstDash val="solid"/>
          </a:ln>
        </p:spPr>
      </p:sp>
      <p:sp>
        <p:nvSpPr>
          <p:cNvPr id="5" name="Text 3"/>
          <p:cNvSpPr/>
          <p:nvPr/>
        </p:nvSpPr>
        <p:spPr>
          <a:xfrm>
            <a:off x="1045633" y="2027312"/>
            <a:ext cx="4857411" cy="314920"/>
          </a:xfrm>
          <a:prstGeom prst="rect">
            <a:avLst/>
          </a:prstGeom>
          <a:noFill/>
        </p:spPr>
        <p:txBody>
          <a:bodyPr wrap="square" lIns="0" tIns="0" rIns="0" bIns="0" rtlCol="0" anchor="t">
            <a:normAutofit/>
          </a:bodyPr>
          <a:lstStyle/>
          <a:p>
            <a:pPr marL="0" indent="0" algn="l">
              <a:lnSpc>
                <a:spcPts val="2280"/>
              </a:lnSpc>
              <a:buNone/>
            </a:pPr>
            <a:r>
              <a:rPr lang="en-US" sz="1900" b="1" dirty="0">
                <a:solidFill>
                  <a:srgbClr val="0B7A6E"/>
                </a:solidFill>
                <a:latin typeface="Arial" panose="020B0604020202020204" pitchFamily="34" charset="0"/>
                <a:ea typeface="Arial" panose="020B0604020202020204" pitchFamily="34" charset="-122"/>
                <a:cs typeface="Arial" panose="020B0604020202020204" pitchFamily="34" charset="-120"/>
              </a:rPr>
              <a:t>TLS</a:t>
            </a:r>
            <a:endParaRPr lang="en-US" sz="1900" dirty="0"/>
          </a:p>
        </p:txBody>
      </p:sp>
      <p:sp>
        <p:nvSpPr>
          <p:cNvPr id="6" name="Text 4"/>
          <p:cNvSpPr/>
          <p:nvPr/>
        </p:nvSpPr>
        <p:spPr>
          <a:xfrm>
            <a:off x="1045633" y="2418432"/>
            <a:ext cx="4857411" cy="256514"/>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Bảo vệ</a:t>
            </a:r>
            <a:endParaRPr lang="en-US" sz="1300" dirty="0"/>
          </a:p>
        </p:txBody>
      </p:sp>
      <p:sp>
        <p:nvSpPr>
          <p:cNvPr id="7" name="Text 5"/>
          <p:cNvSpPr/>
          <p:nvPr/>
        </p:nvSpPr>
        <p:spPr>
          <a:xfrm>
            <a:off x="1045633" y="2751138"/>
            <a:ext cx="4857411"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Mã hóa trên đường truyền giữa máy khách và máy chủ, giữa các máy chủ thư</a:t>
            </a:r>
            <a:endParaRPr lang="en-US" sz="1300" dirty="0"/>
          </a:p>
        </p:txBody>
      </p:sp>
      <p:sp>
        <p:nvSpPr>
          <p:cNvPr id="8" name="Text 6"/>
          <p:cNvSpPr/>
          <p:nvPr/>
        </p:nvSpPr>
        <p:spPr>
          <a:xfrm>
            <a:off x="1045633" y="3314973"/>
            <a:ext cx="4857411" cy="256514"/>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Giới hạn</a:t>
            </a:r>
            <a:endParaRPr lang="en-US" sz="1300" dirty="0"/>
          </a:p>
        </p:txBody>
      </p:sp>
      <p:sp>
        <p:nvSpPr>
          <p:cNvPr id="9" name="Text 7"/>
          <p:cNvSpPr/>
          <p:nvPr/>
        </p:nvSpPr>
        <p:spPr>
          <a:xfrm>
            <a:off x="1045633" y="3647678"/>
            <a:ext cx="4857411"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Thư vẫn ở dạng rõ trên máy chủ trung gian; một chặng không hỗ trợ TLS thì bị hạ xuống không mã hóa</a:t>
            </a:r>
            <a:endParaRPr lang="en-US" sz="1300" dirty="0"/>
          </a:p>
        </p:txBody>
      </p:sp>
      <p:sp>
        <p:nvSpPr>
          <p:cNvPr id="10" name="Shape 8"/>
          <p:cNvSpPr/>
          <p:nvPr/>
        </p:nvSpPr>
        <p:spPr>
          <a:xfrm>
            <a:off x="6200775" y="1797645"/>
            <a:ext cx="5175250" cy="3271639"/>
          </a:xfrm>
          <a:prstGeom prst="roundRect">
            <a:avLst>
              <a:gd name="adj" fmla="val 3008"/>
            </a:avLst>
          </a:prstGeom>
          <a:solidFill>
            <a:srgbClr val="FFFFFF"/>
          </a:solidFill>
          <a:ln w="6350">
            <a:solidFill>
              <a:srgbClr val="DCE3E1"/>
            </a:solidFill>
            <a:prstDash val="solid"/>
          </a:ln>
        </p:spPr>
      </p:sp>
      <p:sp>
        <p:nvSpPr>
          <p:cNvPr id="11" name="Text 9"/>
          <p:cNvSpPr/>
          <p:nvPr/>
        </p:nvSpPr>
        <p:spPr>
          <a:xfrm>
            <a:off x="6430433" y="2027312"/>
            <a:ext cx="4857411" cy="314920"/>
          </a:xfrm>
          <a:prstGeom prst="rect">
            <a:avLst/>
          </a:prstGeom>
          <a:noFill/>
        </p:spPr>
        <p:txBody>
          <a:bodyPr wrap="square" lIns="0" tIns="0" rIns="0" bIns="0" rtlCol="0" anchor="t">
            <a:normAutofit/>
          </a:bodyPr>
          <a:lstStyle/>
          <a:p>
            <a:pPr marL="0" indent="0" algn="l">
              <a:lnSpc>
                <a:spcPts val="2280"/>
              </a:lnSpc>
              <a:buNone/>
            </a:pPr>
            <a:r>
              <a:rPr lang="en-US" sz="1900" b="1" dirty="0">
                <a:solidFill>
                  <a:srgbClr val="0B7A6E"/>
                </a:solidFill>
                <a:latin typeface="Arial" panose="020B0604020202020204" pitchFamily="34" charset="0"/>
                <a:ea typeface="Arial" panose="020B0604020202020204" pitchFamily="34" charset="-122"/>
                <a:cs typeface="Arial" panose="020B0604020202020204" pitchFamily="34" charset="-120"/>
              </a:rPr>
              <a:t>E2EE</a:t>
            </a:r>
            <a:endParaRPr lang="en-US" sz="1900" dirty="0"/>
          </a:p>
        </p:txBody>
      </p:sp>
      <p:sp>
        <p:nvSpPr>
          <p:cNvPr id="12" name="Text 10"/>
          <p:cNvSpPr/>
          <p:nvPr/>
        </p:nvSpPr>
        <p:spPr>
          <a:xfrm>
            <a:off x="6430433" y="2418432"/>
            <a:ext cx="4857411" cy="256514"/>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Bảo vệ</a:t>
            </a:r>
            <a:endParaRPr lang="en-US" sz="1300" dirty="0"/>
          </a:p>
        </p:txBody>
      </p:sp>
      <p:sp>
        <p:nvSpPr>
          <p:cNvPr id="13" name="Text 11"/>
          <p:cNvSpPr/>
          <p:nvPr/>
        </p:nvSpPr>
        <p:spPr>
          <a:xfrm>
            <a:off x="6430433" y="2751138"/>
            <a:ext cx="4857411"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Chỉ người gửi và người nhận đọc được nội dung (PGP, S/MIME)</a:t>
            </a:r>
            <a:endParaRPr lang="en-US" sz="1300" dirty="0"/>
          </a:p>
        </p:txBody>
      </p:sp>
      <p:sp>
        <p:nvSpPr>
          <p:cNvPr id="14" name="Text 12"/>
          <p:cNvSpPr/>
          <p:nvPr/>
        </p:nvSpPr>
        <p:spPr>
          <a:xfrm>
            <a:off x="6430433" y="3314973"/>
            <a:ext cx="4857411" cy="256514"/>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Giới hạn</a:t>
            </a:r>
            <a:endParaRPr lang="en-US" sz="1300" dirty="0"/>
          </a:p>
        </p:txBody>
      </p:sp>
      <p:sp>
        <p:nvSpPr>
          <p:cNvPr id="15" name="Text 13"/>
          <p:cNvSpPr/>
          <p:nvPr/>
        </p:nvSpPr>
        <p:spPr>
          <a:xfrm>
            <a:off x="6430433" y="3647678"/>
            <a:ext cx="4857411"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Phải quản lý khóa; khó lọc spam và mã độc; không che tiêu đề và địa chỉ</a:t>
            </a:r>
            <a:endParaRPr lang="en-US" sz="1300" dirty="0"/>
          </a:p>
        </p:txBody>
      </p:sp>
      <p:sp>
        <p:nvSpPr>
          <p:cNvPr id="16" name="Text 14"/>
          <p:cNvSpPr/>
          <p:nvPr/>
        </p:nvSpPr>
        <p:spPr>
          <a:xfrm>
            <a:off x="812800" y="5326459"/>
            <a:ext cx="10464800" cy="540941"/>
          </a:xfrm>
          <a:prstGeom prst="rect">
            <a:avLst/>
          </a:prstGeom>
          <a:noFill/>
        </p:spPr>
        <p:txBody>
          <a:bodyPr wrap="square" lIns="0" tIns="0" rIns="0" bIns="0" rtlCol="0" anchor="t">
            <a:normAutofit/>
          </a:bodyPr>
          <a:lstStyle/>
          <a:p>
            <a:pPr marL="0" indent="0" algn="l">
              <a:lnSpc>
                <a:spcPts val="2030"/>
              </a:lnSpc>
              <a:buNone/>
            </a:pPr>
            <a:r>
              <a:rPr lang="en-US" sz="1400" b="1" dirty="0">
                <a:solidFill>
                  <a:srgbClr val="3C4A57"/>
                </a:solidFill>
                <a:latin typeface="Arial" panose="020B0604020202020204" pitchFamily="34" charset="0"/>
                <a:ea typeface="Arial" panose="020B0604020202020204" pitchFamily="34" charset="-122"/>
                <a:cs typeface="Arial" panose="020B0604020202020204" pitchFamily="34" charset="-120"/>
              </a:rPr>
              <a:t>Cấu hình máy chủ:</a:t>
            </a: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 chỉ cho kết nối mã hóa (SMTP 587/465, IMAPS 993, POP3S 995), tắt giao thức không mã hóa, không để open relay.</a:t>
            </a:r>
            <a:endParaRPr lang="en-US" sz="1400" dirty="0"/>
          </a:p>
        </p:txBody>
      </p:sp>
      <p:sp>
        <p:nvSpPr>
          <p:cNvPr id="17" name="Text 15"/>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BẢO MẬT EMAIL</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Xác thực nguồn gửi: SPF, DKIM, DMARC</a:t>
            </a:r>
            <a:endParaRPr lang="en-US" sz="3000" dirty="0"/>
          </a:p>
        </p:txBody>
      </p:sp>
      <p:sp>
        <p:nvSpPr>
          <p:cNvPr id="4" name="Shape 2"/>
          <p:cNvSpPr/>
          <p:nvPr/>
        </p:nvSpPr>
        <p:spPr>
          <a:xfrm>
            <a:off x="815975" y="1797645"/>
            <a:ext cx="3414183" cy="3403666"/>
          </a:xfrm>
          <a:prstGeom prst="roundRect">
            <a:avLst>
              <a:gd name="adj" fmla="val 2892"/>
            </a:avLst>
          </a:prstGeom>
          <a:solidFill>
            <a:srgbClr val="FFFFFF"/>
          </a:solidFill>
          <a:ln w="6350">
            <a:solidFill>
              <a:srgbClr val="DCE3E1"/>
            </a:solidFill>
            <a:prstDash val="solid"/>
          </a:ln>
        </p:spPr>
      </p:sp>
      <p:sp>
        <p:nvSpPr>
          <p:cNvPr id="5" name="Text 3"/>
          <p:cNvSpPr/>
          <p:nvPr/>
        </p:nvSpPr>
        <p:spPr>
          <a:xfrm>
            <a:off x="1020233" y="2001912"/>
            <a:ext cx="3095837" cy="314920"/>
          </a:xfrm>
          <a:prstGeom prst="rect">
            <a:avLst/>
          </a:prstGeom>
          <a:noFill/>
        </p:spPr>
        <p:txBody>
          <a:bodyPr wrap="square" lIns="0" tIns="0" rIns="0" bIns="0" rtlCol="0" anchor="t">
            <a:normAutofit/>
          </a:bodyPr>
          <a:lstStyle/>
          <a:p>
            <a:pPr marL="0" indent="0" algn="l">
              <a:lnSpc>
                <a:spcPts val="2280"/>
              </a:lnSpc>
              <a:buNone/>
            </a:pPr>
            <a:r>
              <a:rPr lang="en-US" sz="1900" b="1" dirty="0">
                <a:solidFill>
                  <a:srgbClr val="0B7A6E"/>
                </a:solidFill>
                <a:latin typeface="Arial" panose="020B0604020202020204" pitchFamily="34" charset="0"/>
                <a:ea typeface="Arial" panose="020B0604020202020204" pitchFamily="34" charset="-122"/>
                <a:cs typeface="Arial" panose="020B0604020202020204" pitchFamily="34" charset="-120"/>
              </a:rPr>
              <a:t>SPF</a:t>
            </a:r>
            <a:endParaRPr lang="en-US" sz="1900" dirty="0"/>
          </a:p>
        </p:txBody>
      </p:sp>
      <p:sp>
        <p:nvSpPr>
          <p:cNvPr id="6" name="Text 4"/>
          <p:cNvSpPr/>
          <p:nvPr/>
        </p:nvSpPr>
        <p:spPr>
          <a:xfrm>
            <a:off x="1020233" y="2380332"/>
            <a:ext cx="309583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Miền công bố danh sách IP được phép gửi thư; máy nhận đối chiếu IP gửi</a:t>
            </a:r>
            <a:endParaRPr lang="en-US" sz="1300" dirty="0"/>
          </a:p>
        </p:txBody>
      </p:sp>
      <p:sp>
        <p:nvSpPr>
          <p:cNvPr id="7" name="Text 5"/>
          <p:cNvSpPr/>
          <p:nvPr/>
        </p:nvSpPr>
        <p:spPr>
          <a:xfrm>
            <a:off x="1020233" y="2931455"/>
            <a:ext cx="3095837" cy="256514"/>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Chống thư giả mạo từ máy lạ</a:t>
            </a:r>
            <a:endParaRPr lang="en-US" sz="1300" dirty="0"/>
          </a:p>
        </p:txBody>
      </p:sp>
      <p:sp>
        <p:nvSpPr>
          <p:cNvPr id="8" name="Shape 6"/>
          <p:cNvSpPr/>
          <p:nvPr/>
        </p:nvSpPr>
        <p:spPr>
          <a:xfrm>
            <a:off x="4388908" y="1797645"/>
            <a:ext cx="3414183" cy="3403666"/>
          </a:xfrm>
          <a:prstGeom prst="roundRect">
            <a:avLst>
              <a:gd name="adj" fmla="val 2892"/>
            </a:avLst>
          </a:prstGeom>
          <a:solidFill>
            <a:srgbClr val="FFFFFF"/>
          </a:solidFill>
          <a:ln w="6350">
            <a:solidFill>
              <a:srgbClr val="DCE3E1"/>
            </a:solidFill>
            <a:prstDash val="solid"/>
          </a:ln>
        </p:spPr>
      </p:sp>
      <p:sp>
        <p:nvSpPr>
          <p:cNvPr id="9" name="Text 7"/>
          <p:cNvSpPr/>
          <p:nvPr/>
        </p:nvSpPr>
        <p:spPr>
          <a:xfrm>
            <a:off x="4593167" y="2001912"/>
            <a:ext cx="3095837" cy="314920"/>
          </a:xfrm>
          <a:prstGeom prst="rect">
            <a:avLst/>
          </a:prstGeom>
          <a:noFill/>
        </p:spPr>
        <p:txBody>
          <a:bodyPr wrap="square" lIns="0" tIns="0" rIns="0" bIns="0" rtlCol="0" anchor="t">
            <a:normAutofit/>
          </a:bodyPr>
          <a:lstStyle/>
          <a:p>
            <a:pPr marL="0" indent="0" algn="l">
              <a:lnSpc>
                <a:spcPts val="2280"/>
              </a:lnSpc>
              <a:buNone/>
            </a:pPr>
            <a:r>
              <a:rPr lang="en-US" sz="1900" b="1" dirty="0">
                <a:solidFill>
                  <a:srgbClr val="0B7A6E"/>
                </a:solidFill>
                <a:latin typeface="Arial" panose="020B0604020202020204" pitchFamily="34" charset="0"/>
                <a:ea typeface="Arial" panose="020B0604020202020204" pitchFamily="34" charset="-122"/>
                <a:cs typeface="Arial" panose="020B0604020202020204" pitchFamily="34" charset="-120"/>
              </a:rPr>
              <a:t>DKIM</a:t>
            </a:r>
            <a:endParaRPr lang="en-US" sz="1900" dirty="0"/>
          </a:p>
        </p:txBody>
      </p:sp>
      <p:sp>
        <p:nvSpPr>
          <p:cNvPr id="10" name="Text 8"/>
          <p:cNvSpPr/>
          <p:nvPr/>
        </p:nvSpPr>
        <p:spPr>
          <a:xfrm>
            <a:off x="4593167" y="2380332"/>
            <a:ext cx="309583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Máy gửi ký số thư bằng khóa riêng; khóa công khai đặt trong DNS</a:t>
            </a:r>
            <a:endParaRPr lang="en-US" sz="1300" dirty="0"/>
          </a:p>
        </p:txBody>
      </p:sp>
      <p:sp>
        <p:nvSpPr>
          <p:cNvPr id="11" name="Text 9"/>
          <p:cNvSpPr/>
          <p:nvPr/>
        </p:nvSpPr>
        <p:spPr>
          <a:xfrm>
            <a:off x="4593167" y="2931455"/>
            <a:ext cx="3095837" cy="256514"/>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Chống thư bị sửa đổi</a:t>
            </a:r>
            <a:endParaRPr lang="en-US" sz="1300" dirty="0"/>
          </a:p>
        </p:txBody>
      </p:sp>
      <p:sp>
        <p:nvSpPr>
          <p:cNvPr id="12" name="Shape 10"/>
          <p:cNvSpPr/>
          <p:nvPr/>
        </p:nvSpPr>
        <p:spPr>
          <a:xfrm>
            <a:off x="7961842" y="1797645"/>
            <a:ext cx="3414183" cy="3403666"/>
          </a:xfrm>
          <a:prstGeom prst="roundRect">
            <a:avLst>
              <a:gd name="adj" fmla="val 2892"/>
            </a:avLst>
          </a:prstGeom>
          <a:solidFill>
            <a:srgbClr val="FFFFFF"/>
          </a:solidFill>
          <a:ln w="6350">
            <a:solidFill>
              <a:srgbClr val="DCE3E1"/>
            </a:solidFill>
            <a:prstDash val="solid"/>
          </a:ln>
        </p:spPr>
      </p:sp>
      <p:sp>
        <p:nvSpPr>
          <p:cNvPr id="13" name="Text 11"/>
          <p:cNvSpPr/>
          <p:nvPr/>
        </p:nvSpPr>
        <p:spPr>
          <a:xfrm>
            <a:off x="8166100" y="2001912"/>
            <a:ext cx="3095837" cy="314920"/>
          </a:xfrm>
          <a:prstGeom prst="rect">
            <a:avLst/>
          </a:prstGeom>
          <a:noFill/>
        </p:spPr>
        <p:txBody>
          <a:bodyPr wrap="square" lIns="0" tIns="0" rIns="0" bIns="0" rtlCol="0" anchor="t">
            <a:normAutofit/>
          </a:bodyPr>
          <a:lstStyle/>
          <a:p>
            <a:pPr marL="0" indent="0" algn="l">
              <a:lnSpc>
                <a:spcPts val="2280"/>
              </a:lnSpc>
              <a:buNone/>
            </a:pPr>
            <a:r>
              <a:rPr lang="en-US" sz="1900" b="1" dirty="0">
                <a:solidFill>
                  <a:srgbClr val="0B7A6E"/>
                </a:solidFill>
                <a:latin typeface="Arial" panose="020B0604020202020204" pitchFamily="34" charset="0"/>
                <a:ea typeface="Arial" panose="020B0604020202020204" pitchFamily="34" charset="-122"/>
                <a:cs typeface="Arial" panose="020B0604020202020204" pitchFamily="34" charset="-120"/>
              </a:rPr>
              <a:t>DMARC</a:t>
            </a:r>
            <a:endParaRPr lang="en-US" sz="1900" dirty="0"/>
          </a:p>
        </p:txBody>
      </p:sp>
      <p:sp>
        <p:nvSpPr>
          <p:cNvPr id="14" name="Text 12"/>
          <p:cNvSpPr/>
          <p:nvPr/>
        </p:nvSpPr>
        <p:spPr>
          <a:xfrm>
            <a:off x="8166100" y="2380332"/>
            <a:ext cx="3095837" cy="48762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Quy định cách xử lý khi SPF hoặc DKIM thất bại và gửi báo cáo về chủ miền</a:t>
            </a:r>
            <a:endParaRPr lang="en-US" sz="1300" dirty="0"/>
          </a:p>
        </p:txBody>
      </p:sp>
      <p:sp>
        <p:nvSpPr>
          <p:cNvPr id="15" name="Text 13"/>
          <p:cNvSpPr/>
          <p:nvPr/>
        </p:nvSpPr>
        <p:spPr>
          <a:xfrm>
            <a:off x="8166100" y="2931455"/>
            <a:ext cx="3095837" cy="256514"/>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Chống giả mạo tên miền hiển thị</a:t>
            </a:r>
            <a:endParaRPr lang="en-US" sz="1300" dirty="0"/>
          </a:p>
        </p:txBody>
      </p:sp>
      <p:sp>
        <p:nvSpPr>
          <p:cNvPr id="16" name="Text 14"/>
          <p:cNvSpPr/>
          <p:nvPr/>
        </p:nvSpPr>
        <p:spPr>
          <a:xfrm>
            <a:off x="812800" y="5525765"/>
            <a:ext cx="1499791" cy="274307"/>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B2A38"/>
                </a:solidFill>
                <a:latin typeface="Arial" panose="020B0604020202020204" pitchFamily="34" charset="0"/>
                <a:ea typeface="Arial" panose="020B0604020202020204" pitchFamily="34" charset="-122"/>
                <a:cs typeface="Arial" panose="020B0604020202020204" pitchFamily="34" charset="-120"/>
              </a:rPr>
              <a:t>Lộ trình DMARC</a:t>
            </a:r>
            <a:endParaRPr lang="en-US" sz="1400" dirty="0"/>
          </a:p>
        </p:txBody>
      </p:sp>
      <p:sp>
        <p:nvSpPr>
          <p:cNvPr id="17" name="Text 15"/>
          <p:cNvSpPr/>
          <p:nvPr/>
        </p:nvSpPr>
        <p:spPr>
          <a:xfrm>
            <a:off x="2312591" y="5458495"/>
            <a:ext cx="1690026" cy="383514"/>
          </a:xfrm>
          <a:prstGeom prst="roundRect">
            <a:avLst>
              <a:gd name="adj" fmla="val 50000"/>
            </a:avLst>
          </a:prstGeom>
          <a:solidFill>
            <a:srgbClr val="0F1E2E"/>
          </a:solidFill>
        </p:spPr>
        <p:txBody>
          <a:bodyPr wrap="none" lIns="0" tIns="0" rIns="0" bIns="0" rtlCol="0" anchor="ctr">
            <a:normAutofit/>
          </a:bodyPr>
          <a:lstStyle/>
          <a:p>
            <a:pPr marL="0" indent="0" algn="ctr">
              <a:lnSpc>
                <a:spcPts val="1820"/>
              </a:lnSpc>
              <a:buNone/>
            </a:pPr>
            <a:r>
              <a:rPr lang="en-US" sz="1300" b="1" dirty="0">
                <a:solidFill>
                  <a:srgbClr val="EAF1F6"/>
                </a:solidFill>
                <a:latin typeface="Arial" panose="020B0604020202020204" pitchFamily="34" charset="0"/>
                <a:ea typeface="Arial" panose="020B0604020202020204" pitchFamily="34" charset="-122"/>
                <a:cs typeface="Arial" panose="020B0604020202020204" pitchFamily="34" charset="-120"/>
              </a:rPr>
              <a:t>p=none: theo dõi</a:t>
            </a:r>
            <a:endParaRPr lang="en-US" sz="1300" dirty="0"/>
          </a:p>
        </p:txBody>
      </p:sp>
      <p:pic>
        <p:nvPicPr>
          <p:cNvPr id="18" name="Image 0" descr="arrow-right"/>
          <p:cNvPicPr>
            <a:picLocks noChangeAspect="1"/>
          </p:cNvPicPr>
          <p:nvPr/>
        </p:nvPicPr>
        <p:blipFill>
          <a:blip r:embed="rId1"/>
          <a:srcRect/>
          <a:stretch>
            <a:fillRect/>
          </a:stretch>
        </p:blipFill>
        <p:spPr>
          <a:xfrm>
            <a:off x="4129617" y="5554997"/>
            <a:ext cx="355600" cy="190500"/>
          </a:xfrm>
          <a:prstGeom prst="rect">
            <a:avLst/>
          </a:prstGeom>
        </p:spPr>
      </p:pic>
      <p:sp>
        <p:nvSpPr>
          <p:cNvPr id="19" name="Text 16"/>
          <p:cNvSpPr/>
          <p:nvPr/>
        </p:nvSpPr>
        <p:spPr>
          <a:xfrm>
            <a:off x="4612217" y="5458495"/>
            <a:ext cx="1860285" cy="383514"/>
          </a:xfrm>
          <a:prstGeom prst="roundRect">
            <a:avLst>
              <a:gd name="adj" fmla="val 50000"/>
            </a:avLst>
          </a:prstGeom>
          <a:solidFill>
            <a:srgbClr val="0F1E2E"/>
          </a:solidFill>
        </p:spPr>
        <p:txBody>
          <a:bodyPr wrap="none" lIns="0" tIns="0" rIns="0" bIns="0" rtlCol="0" anchor="ctr">
            <a:normAutofit/>
          </a:bodyPr>
          <a:lstStyle/>
          <a:p>
            <a:pPr marL="0" indent="0" algn="ctr">
              <a:lnSpc>
                <a:spcPts val="1820"/>
              </a:lnSpc>
              <a:buNone/>
            </a:pPr>
            <a:r>
              <a:rPr lang="en-US" sz="1300" b="1" dirty="0">
                <a:solidFill>
                  <a:srgbClr val="EAF1F6"/>
                </a:solidFill>
                <a:latin typeface="Arial" panose="020B0604020202020204" pitchFamily="34" charset="0"/>
                <a:ea typeface="Arial" panose="020B0604020202020204" pitchFamily="34" charset="-122"/>
                <a:cs typeface="Arial" panose="020B0604020202020204" pitchFamily="34" charset="-120"/>
              </a:rPr>
              <a:t>quarantine: cách ly</a:t>
            </a:r>
            <a:endParaRPr lang="en-US" sz="1300" dirty="0"/>
          </a:p>
        </p:txBody>
      </p:sp>
      <p:pic>
        <p:nvPicPr>
          <p:cNvPr id="20" name="Image 1" descr="arrow-right"/>
          <p:cNvPicPr>
            <a:picLocks noChangeAspect="1"/>
          </p:cNvPicPr>
          <p:nvPr/>
        </p:nvPicPr>
        <p:blipFill>
          <a:blip r:embed="rId1"/>
          <a:srcRect/>
          <a:stretch>
            <a:fillRect/>
          </a:stretch>
        </p:blipFill>
        <p:spPr>
          <a:xfrm>
            <a:off x="6599503" y="5554997"/>
            <a:ext cx="355600" cy="190500"/>
          </a:xfrm>
          <a:prstGeom prst="rect">
            <a:avLst/>
          </a:prstGeom>
        </p:spPr>
      </p:pic>
      <p:sp>
        <p:nvSpPr>
          <p:cNvPr id="21" name="Text 17"/>
          <p:cNvSpPr/>
          <p:nvPr/>
        </p:nvSpPr>
        <p:spPr>
          <a:xfrm>
            <a:off x="7082103" y="5458495"/>
            <a:ext cx="1456862" cy="383514"/>
          </a:xfrm>
          <a:prstGeom prst="roundRect">
            <a:avLst>
              <a:gd name="adj" fmla="val 50000"/>
            </a:avLst>
          </a:prstGeom>
          <a:solidFill>
            <a:srgbClr val="0F1E2E"/>
          </a:solidFill>
        </p:spPr>
        <p:txBody>
          <a:bodyPr wrap="none" lIns="0" tIns="0" rIns="0" bIns="0" rtlCol="0" anchor="ctr">
            <a:normAutofit/>
          </a:bodyPr>
          <a:lstStyle/>
          <a:p>
            <a:pPr marL="0" indent="0" algn="ctr">
              <a:lnSpc>
                <a:spcPts val="1820"/>
              </a:lnSpc>
              <a:buNone/>
            </a:pPr>
            <a:r>
              <a:rPr lang="en-US" sz="1300" b="1" dirty="0">
                <a:solidFill>
                  <a:srgbClr val="EAF1F6"/>
                </a:solidFill>
                <a:latin typeface="Arial" panose="020B0604020202020204" pitchFamily="34" charset="0"/>
                <a:ea typeface="Arial" panose="020B0604020202020204" pitchFamily="34" charset="-122"/>
                <a:cs typeface="Arial" panose="020B0604020202020204" pitchFamily="34" charset="-120"/>
              </a:rPr>
              <a:t>reject: từ chối</a:t>
            </a:r>
            <a:endParaRPr lang="en-US" sz="1300" dirty="0"/>
          </a:p>
        </p:txBody>
      </p:sp>
      <p:sp>
        <p:nvSpPr>
          <p:cNvPr id="22" name="Text 18"/>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PHẦN 5 · SSL/TLS</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Handshake và các loại chứng chỉ</a:t>
            </a:r>
            <a:endParaRPr lang="en-US" sz="3000" dirty="0"/>
          </a:p>
        </p:txBody>
      </p:sp>
      <p:sp>
        <p:nvSpPr>
          <p:cNvPr id="4" name="Shape 2"/>
          <p:cNvSpPr/>
          <p:nvPr/>
        </p:nvSpPr>
        <p:spPr>
          <a:xfrm>
            <a:off x="812800" y="1794470"/>
            <a:ext cx="5177367" cy="3535759"/>
          </a:xfrm>
          <a:prstGeom prst="roundRect">
            <a:avLst>
              <a:gd name="adj" fmla="val 2873"/>
            </a:avLst>
          </a:prstGeom>
          <a:solidFill>
            <a:srgbClr val="0F1E2E"/>
          </a:solidFill>
        </p:spPr>
      </p:sp>
      <p:sp>
        <p:nvSpPr>
          <p:cNvPr id="5" name="Text 3"/>
          <p:cNvSpPr/>
          <p:nvPr/>
        </p:nvSpPr>
        <p:spPr>
          <a:xfrm>
            <a:off x="1041400" y="2023070"/>
            <a:ext cx="4861772"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2DD4BF"/>
                </a:solidFill>
                <a:latin typeface="Arial" panose="020B0604020202020204" pitchFamily="34" charset="0"/>
                <a:ea typeface="Arial" panose="020B0604020202020204" pitchFamily="34" charset="-122"/>
                <a:cs typeface="Arial" panose="020B0604020202020204" pitchFamily="34" charset="-120"/>
              </a:rPr>
              <a:t>Bắt tay TLS</a:t>
            </a:r>
            <a:endParaRPr lang="en-US" sz="1700" dirty="0"/>
          </a:p>
        </p:txBody>
      </p:sp>
      <p:sp>
        <p:nvSpPr>
          <p:cNvPr id="6" name="Text 4"/>
          <p:cNvSpPr/>
          <p:nvPr/>
        </p:nvSpPr>
        <p:spPr>
          <a:xfrm>
            <a:off x="1111779" y="2409106"/>
            <a:ext cx="4783773" cy="1263650"/>
          </a:xfrm>
          <a:prstGeom prst="rect">
            <a:avLst/>
          </a:prstGeom>
          <a:noFill/>
        </p:spPr>
        <p:txBody>
          <a:bodyPr wrap="square" lIns="0" tIns="0" rIns="0" bIns="0" rtlCol="0" anchor="t">
            <a:normAutofit/>
          </a:bodyPr>
          <a:lstStyle/>
          <a:p>
            <a:pPr marL="183515" indent="-183515" algn="l">
              <a:lnSpc>
                <a:spcPts val="1950"/>
              </a:lnSpc>
              <a:buSzPct val="100000"/>
              <a:buFontTx/>
              <a:buAutoNum type="arabicPeriod"/>
            </a:pPr>
            <a:r>
              <a:rPr lang="en-US" sz="1300" dirty="0">
                <a:solidFill>
                  <a:srgbClr val="EAF1F6"/>
                </a:solidFill>
                <a:latin typeface="Arial" panose="020B0604020202020204" pitchFamily="34" charset="0"/>
                <a:ea typeface="Arial" panose="020B0604020202020204" pitchFamily="34" charset="-122"/>
                <a:cs typeface="Arial" panose="020B0604020202020204" pitchFamily="34" charset="-120"/>
              </a:rPr>
              <a:t>ClientHello: phiên bản, cipher suite</a:t>
            </a:r>
            <a:endParaRPr lang="en-US" sz="1300" dirty="0"/>
          </a:p>
          <a:p>
            <a:pPr marL="183515" indent="-183515" algn="l">
              <a:lnSpc>
                <a:spcPts val="1950"/>
              </a:lnSpc>
              <a:buSzPct val="100000"/>
              <a:buFontTx/>
              <a:buAutoNum type="arabicPeriod"/>
            </a:pPr>
            <a:r>
              <a:rPr lang="en-US" sz="1300" dirty="0">
                <a:solidFill>
                  <a:srgbClr val="EAF1F6"/>
                </a:solidFill>
                <a:latin typeface="Arial" panose="020B0604020202020204" pitchFamily="34" charset="0"/>
                <a:ea typeface="Arial" panose="020B0604020202020204" pitchFamily="34" charset="-122"/>
                <a:cs typeface="Arial" panose="020B0604020202020204" pitchFamily="34" charset="-120"/>
              </a:rPr>
              <a:t>ServerHello và chứng chỉ số</a:t>
            </a:r>
            <a:endParaRPr lang="en-US" sz="1300" dirty="0"/>
          </a:p>
          <a:p>
            <a:pPr marL="183515" indent="-183515" algn="l">
              <a:lnSpc>
                <a:spcPts val="1950"/>
              </a:lnSpc>
              <a:buSzPct val="100000"/>
              <a:buFontTx/>
              <a:buAutoNum type="arabicPeriod"/>
            </a:pPr>
            <a:r>
              <a:rPr lang="en-US" sz="1300" dirty="0">
                <a:solidFill>
                  <a:srgbClr val="EAF1F6"/>
                </a:solidFill>
                <a:latin typeface="Arial" panose="020B0604020202020204" pitchFamily="34" charset="0"/>
                <a:ea typeface="Arial" panose="020B0604020202020204" pitchFamily="34" charset="-122"/>
                <a:cs typeface="Arial" panose="020B0604020202020204" pitchFamily="34" charset="-120"/>
              </a:rPr>
              <a:t>Máy khách kiểm tra chứng chỉ</a:t>
            </a:r>
            <a:endParaRPr lang="en-US" sz="1300" dirty="0"/>
          </a:p>
          <a:p>
            <a:pPr marL="183515" indent="-183515" algn="l">
              <a:lnSpc>
                <a:spcPts val="1950"/>
              </a:lnSpc>
              <a:buSzPct val="100000"/>
              <a:buFontTx/>
              <a:buAutoNum type="arabicPeriod"/>
            </a:pPr>
            <a:r>
              <a:rPr lang="en-US" sz="1300" dirty="0">
                <a:solidFill>
                  <a:srgbClr val="EAF1F6"/>
                </a:solidFill>
                <a:latin typeface="Arial" panose="020B0604020202020204" pitchFamily="34" charset="0"/>
                <a:ea typeface="Arial" panose="020B0604020202020204" pitchFamily="34" charset="-122"/>
                <a:cs typeface="Arial" panose="020B0604020202020204" pitchFamily="34" charset="-120"/>
              </a:rPr>
              <a:t>Trao đổi khóa (ECDHE), sinh khóa phiên</a:t>
            </a:r>
            <a:endParaRPr lang="en-US" sz="1300" dirty="0"/>
          </a:p>
          <a:p>
            <a:pPr marL="183515" indent="-183515" algn="l">
              <a:lnSpc>
                <a:spcPts val="1950"/>
              </a:lnSpc>
              <a:buSzPct val="100000"/>
              <a:buFontTx/>
              <a:buAutoNum type="arabicPeriod"/>
            </a:pPr>
            <a:r>
              <a:rPr lang="en-US" sz="1300" dirty="0">
                <a:solidFill>
                  <a:srgbClr val="EAF1F6"/>
                </a:solidFill>
                <a:latin typeface="Arial" panose="020B0604020202020204" pitchFamily="34" charset="0"/>
                <a:ea typeface="Arial" panose="020B0604020202020204" pitchFamily="34" charset="-122"/>
                <a:cs typeface="Arial" panose="020B0604020202020204" pitchFamily="34" charset="-120"/>
              </a:rPr>
              <a:t>Dữ liệu mã hóa bằng khóa phiên</a:t>
            </a:r>
            <a:endParaRPr lang="en-US" sz="1300" dirty="0"/>
          </a:p>
        </p:txBody>
      </p:sp>
      <p:sp>
        <p:nvSpPr>
          <p:cNvPr id="7" name="Shape 5"/>
          <p:cNvSpPr/>
          <p:nvPr/>
        </p:nvSpPr>
        <p:spPr>
          <a:xfrm>
            <a:off x="6196542" y="1797645"/>
            <a:ext cx="5179483" cy="3529409"/>
          </a:xfrm>
          <a:prstGeom prst="roundRect">
            <a:avLst>
              <a:gd name="adj" fmla="val 2789"/>
            </a:avLst>
          </a:prstGeom>
          <a:solidFill>
            <a:srgbClr val="FFFFFF"/>
          </a:solidFill>
          <a:ln w="6350">
            <a:solidFill>
              <a:srgbClr val="DCE3E1"/>
            </a:solidFill>
            <a:prstDash val="solid"/>
          </a:ln>
        </p:spPr>
      </p:sp>
      <p:sp>
        <p:nvSpPr>
          <p:cNvPr id="8" name="Text 6"/>
          <p:cNvSpPr/>
          <p:nvPr/>
        </p:nvSpPr>
        <p:spPr>
          <a:xfrm>
            <a:off x="6426200" y="2027312"/>
            <a:ext cx="4861772"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B7A6E"/>
                </a:solidFill>
                <a:latin typeface="Arial" panose="020B0604020202020204" pitchFamily="34" charset="0"/>
                <a:ea typeface="Arial" panose="020B0604020202020204" pitchFamily="34" charset="-122"/>
                <a:cs typeface="Arial" panose="020B0604020202020204" pitchFamily="34" charset="-120"/>
              </a:rPr>
              <a:t>Loại chứng chỉ</a:t>
            </a:r>
            <a:endParaRPr lang="en-US" sz="1700" dirty="0"/>
          </a:p>
        </p:txBody>
      </p:sp>
      <p:graphicFrame>
        <p:nvGraphicFramePr>
          <p:cNvPr id="9" name="Table 0"/>
          <p:cNvGraphicFramePr>
            <a:graphicFrameLocks noGrp="1"/>
          </p:cNvGraphicFramePr>
          <p:nvPr/>
        </p:nvGraphicFramePr>
        <p:xfrm>
          <a:off x="6438900" y="2426035"/>
          <a:ext cx="4707467" cy="1995884"/>
        </p:xfrm>
        <a:graphic>
          <a:graphicData uri="http://schemas.openxmlformats.org/drawingml/2006/table">
            <a:tbl>
              <a:tblPr/>
              <a:tblGrid>
                <a:gridCol w="1129792"/>
                <a:gridCol w="3577675"/>
              </a:tblGrid>
              <a:tr h="332647">
                <a:tc>
                  <a:txBody>
                    <a:bodyPr/>
                    <a:lstStyle/>
                    <a:p>
                      <a:pPr marL="0" indent="0">
                        <a:lnSpc>
                          <a:spcPts val="1680"/>
                        </a:lnSpc>
                        <a:buNone/>
                      </a:pPr>
                      <a:r>
                        <a:rPr lang="en-US" sz="1200" b="1" dirty="0">
                          <a:solidFill>
                            <a:srgbClr val="1B2A38"/>
                          </a:solidFill>
                          <a:latin typeface="Arial" panose="020B0604020202020204" pitchFamily="34" charset="0"/>
                          <a:ea typeface="Arial" panose="020B0604020202020204" pitchFamily="34" charset="-122"/>
                          <a:cs typeface="Arial" panose="020B0604020202020204" pitchFamily="34" charset="-120"/>
                        </a:rPr>
                        <a:t>Loại</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B2A38"/>
                          </a:solidFill>
                          <a:latin typeface="Arial" panose="020B0604020202020204" pitchFamily="34" charset="0"/>
                          <a:ea typeface="Arial" panose="020B0604020202020204" pitchFamily="34" charset="-122"/>
                          <a:cs typeface="Arial" panose="020B0604020202020204" pitchFamily="34" charset="-120"/>
                        </a:rPr>
                        <a:t>Mức xác minh</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DV</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Chỉ quyền sở hữu tên miền</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OV</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Thêm thông tin tổ chức</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EV</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Pháp lý nghiêm ngặt nhất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Wildcard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Tên miền chính và mọi tên miền phụ</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UC/SAN</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B2A38"/>
                          </a:solidFill>
                          <a:latin typeface="Arial" panose="020B0604020202020204" pitchFamily="34" charset="0"/>
                          <a:ea typeface="Arial" panose="020B0604020202020204" pitchFamily="34" charset="-122"/>
                          <a:cs typeface="Arial" panose="020B0604020202020204" pitchFamily="34" charset="-120"/>
                        </a:rPr>
                        <a:t>Nhiều tên miền trong một chứng chỉ</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7"/>
          <p:cNvSpPr/>
          <p:nvPr/>
        </p:nvSpPr>
        <p:spPr>
          <a:xfrm>
            <a:off x="812800" y="5584230"/>
            <a:ext cx="10464800" cy="283170"/>
          </a:xfrm>
          <a:prstGeom prst="rect">
            <a:avLst/>
          </a:prstGeom>
          <a:noFill/>
        </p:spPr>
        <p:txBody>
          <a:bodyPr wrap="square" lIns="0" tIns="0" rIns="0" bIns="0" rtlCol="0" anchor="t">
            <a:normAutofit/>
          </a:bodyPr>
          <a:lstStyle/>
          <a:p>
            <a:pPr marL="0" indent="0" algn="l">
              <a:lnSpc>
                <a:spcPts val="2030"/>
              </a:lnSpc>
              <a:buNone/>
            </a:pPr>
            <a:r>
              <a:rPr lang="en-US" sz="1400" b="1" dirty="0">
                <a:solidFill>
                  <a:srgbClr val="3C4A57"/>
                </a:solidFill>
                <a:latin typeface="Arial" panose="020B0604020202020204" pitchFamily="34" charset="0"/>
                <a:ea typeface="Arial" panose="020B0604020202020204" pitchFamily="34" charset="-122"/>
                <a:cs typeface="Arial" panose="020B0604020202020204" pitchFamily="34" charset="-120"/>
              </a:rPr>
              <a:t>Khuyến nghị:</a:t>
            </a: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 dùng TLS 1.2 trở lên, ưu tiên TLS 1.3; loại bỏ SSL 2.0/3.0, TLS 1.0/1.1 và các cipher suite yếu.</a:t>
            </a:r>
            <a:endParaRPr lang="en-US" sz="1400" dirty="0"/>
          </a:p>
        </p:txBody>
      </p:sp>
      <p:sp>
        <p:nvSpPr>
          <p:cNvPr id="11" name="Text 8"/>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PHẦN 6 · HỆ THỐNG HỖ TRỢ</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Tường lửa, IDS, IPS và VPN</a:t>
            </a:r>
            <a:endParaRPr lang="en-US" sz="3000" dirty="0"/>
          </a:p>
        </p:txBody>
      </p:sp>
      <p:graphicFrame>
        <p:nvGraphicFramePr>
          <p:cNvPr id="4" name="Table 0"/>
          <p:cNvGraphicFramePr>
            <a:graphicFrameLocks noGrp="1"/>
          </p:cNvGraphicFramePr>
          <p:nvPr/>
        </p:nvGraphicFramePr>
        <p:xfrm>
          <a:off x="825500" y="1807170"/>
          <a:ext cx="10553700" cy="1796521"/>
        </p:xfrm>
        <a:graphic>
          <a:graphicData uri="http://schemas.openxmlformats.org/drawingml/2006/table">
            <a:tbl>
              <a:tblPr/>
              <a:tblGrid>
                <a:gridCol w="1583055"/>
                <a:gridCol w="4749165"/>
                <a:gridCol w="4221480"/>
              </a:tblGrid>
              <a:tr h="359304">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Hệ thống</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Vai trò</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5B6B5"/>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c>
                  <a:txBody>
                    <a:bodyPr/>
                    <a:lstStyle/>
                    <a:p>
                      <a:pPr marL="0" indent="0">
                        <a:lnSpc>
                          <a:spcPts val="1820"/>
                        </a:lnSpc>
                        <a:buNone/>
                      </a:pPr>
                      <a:r>
                        <a:rPr lang="en-US" sz="1300" b="1" dirty="0">
                          <a:solidFill>
                            <a:srgbClr val="1B2A38"/>
                          </a:solidFill>
                          <a:latin typeface="Arial" panose="020B0604020202020204" pitchFamily="34" charset="0"/>
                          <a:ea typeface="Arial" panose="020B0604020202020204" pitchFamily="34" charset="-122"/>
                          <a:cs typeface="Arial" panose="020B0604020202020204" pitchFamily="34" charset="-120"/>
                        </a:rPr>
                        <a:t>Áp dụng cho Web, Email</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5B6B5"/>
                      </a:solidFill>
                      <a:prstDash val="solid"/>
                      <a:round/>
                      <a:headEnd type="none" w="med" len="med"/>
                      <a:tailEnd type="none" w="med" len="med"/>
                    </a:lnL>
                    <a:lnR w="12700" cap="flat" cmpd="sng" algn="ctr">
                      <a:solidFill>
                        <a:srgbClr val="B5B6B5"/>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B5B6B5"/>
                      </a:solidFill>
                      <a:prstDash val="solid"/>
                      <a:round/>
                      <a:headEnd type="none" w="med" len="med"/>
                      <a:tailEnd type="none" w="med" len="med"/>
                    </a:lnB>
                    <a:solidFill>
                      <a:srgbClr val="E2E4E3"/>
                    </a:solidFill>
                  </a:tcPr>
                </a:tc>
              </a:tr>
              <a:tr h="359304">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Tường lửa</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Rào chắn giữa mạng tin cậy và Internet, lọc theo luật</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Chỉ mở cổng 80/443 và cổng mail cần thiết</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B5B6B5"/>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59304">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IDS</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Phát hiện và cảnh báo xâm nhập, không tự chặn</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Giám sát lưu lượng tới web, mail server</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59304">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IPS</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Phát hiện và chủ động chặn kết nối độc hại</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Chặn khai thác lỗ hổng, quét cổng, DoS</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r h="359304">
                <a:tc>
                  <a:txBody>
                    <a:bodyPr/>
                    <a:lstStyle/>
                    <a:p>
                      <a:pPr marL="0" indent="0">
                        <a:lnSpc>
                          <a:spcPts val="1820"/>
                        </a:lnSpc>
                        <a:buNone/>
                      </a:pPr>
                      <a:r>
                        <a:rPr lang="en-US" sz="1300" dirty="0">
                          <a:solidFill>
                            <a:srgbClr val="0B7A6E"/>
                          </a:solidFill>
                          <a:latin typeface="Arial" panose="020B0604020202020204" pitchFamily="34" charset="0"/>
                          <a:ea typeface="Arial" panose="020B0604020202020204" pitchFamily="34" charset="-122"/>
                          <a:cs typeface="Arial" panose="020B0604020202020204" pitchFamily="34" charset="-120"/>
                        </a:rPr>
                        <a:t>VPN</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Đường hầm mã hóa qua Internet</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c>
                  <a:txBody>
                    <a:bodyPr/>
                    <a:lstStyle/>
                    <a:p>
                      <a:pPr marL="0" indent="0">
                        <a:lnSpc>
                          <a:spcPts val="1820"/>
                        </a:lnSpc>
                        <a:buNone/>
                      </a:pPr>
                      <a:r>
                        <a:rPr lang="en-US" sz="1300" dirty="0">
                          <a:solidFill>
                            <a:srgbClr val="1B2A38"/>
                          </a:solidFill>
                          <a:latin typeface="Arial" panose="020B0604020202020204" pitchFamily="34" charset="0"/>
                          <a:ea typeface="Arial" panose="020B0604020202020204" pitchFamily="34" charset="-122"/>
                          <a:cs typeface="Arial" panose="020B0604020202020204" pitchFamily="34" charset="-120"/>
                        </a:rPr>
                        <a:t>Quản trị máy chủ từ xa an toàn</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3C4C3"/>
                      </a:solidFill>
                      <a:prstDash val="solid"/>
                      <a:round/>
                      <a:headEnd type="none" w="med" len="med"/>
                      <a:tailEnd type="none" w="med" len="med"/>
                    </a:lnL>
                    <a:lnR w="12700" cap="flat" cmpd="sng" algn="ctr">
                      <a:solidFill>
                        <a:srgbClr val="C3C4C3"/>
                      </a:solidFill>
                      <a:prstDash val="solid"/>
                      <a:round/>
                      <a:headEnd type="none" w="med" len="med"/>
                      <a:tailEnd type="none" w="med" len="med"/>
                    </a:lnR>
                    <a:lnT w="12700" cap="flat" cmpd="sng" algn="ctr">
                      <a:solidFill>
                        <a:srgbClr val="C3C4C3"/>
                      </a:solidFill>
                      <a:prstDash val="solid"/>
                      <a:round/>
                      <a:headEnd type="none" w="med" len="med"/>
                      <a:tailEnd type="none" w="med" len="med"/>
                    </a:lnT>
                    <a:lnB w="12700" cap="flat" cmpd="sng" algn="ctr">
                      <a:solidFill>
                        <a:srgbClr val="C3C4C3"/>
                      </a:solidFill>
                      <a:prstDash val="solid"/>
                      <a:round/>
                      <a:headEnd type="none" w="med" len="med"/>
                      <a:tailEnd type="none" w="med" len="med"/>
                    </a:lnB>
                  </a:tcPr>
                </a:tc>
              </a:tr>
            </a:tbl>
          </a:graphicData>
        </a:graphic>
      </p:graphicFrame>
      <p:sp>
        <p:nvSpPr>
          <p:cNvPr id="5" name="Text 2"/>
          <p:cNvSpPr/>
          <p:nvPr/>
        </p:nvSpPr>
        <p:spPr>
          <a:xfrm>
            <a:off x="812800" y="3857699"/>
            <a:ext cx="11379200" cy="283170"/>
          </a:xfrm>
          <a:prstGeom prst="rect">
            <a:avLst/>
          </a:prstGeom>
          <a:noFill/>
        </p:spPr>
        <p:txBody>
          <a:bodyPr wrap="square" lIns="0" tIns="0" rIns="0" bIns="0" rtlCol="0" anchor="t">
            <a:normAutofit/>
          </a:bodyPr>
          <a:lstStyle/>
          <a:p>
            <a:pPr marL="0" indent="0" algn="l">
              <a:lnSpc>
                <a:spcPts val="2030"/>
              </a:lnSpc>
              <a:buNone/>
            </a:pPr>
            <a:r>
              <a:rPr lang="en-US" sz="1400" dirty="0">
                <a:solidFill>
                  <a:srgbClr val="3C4A57"/>
                </a:solidFill>
                <a:latin typeface="Arial" panose="020B0604020202020204" pitchFamily="34" charset="0"/>
                <a:ea typeface="Arial" panose="020B0604020202020204" pitchFamily="34" charset="-122"/>
                <a:cs typeface="Arial" panose="020B0604020202020204" pitchFamily="34" charset="-120"/>
              </a:rPr>
              <a:t>IDS không ảnh hưởng hiệu năng nhưng không ngăn được tấn công; IPS ngăn được nhưng có thể chặn nhầm lưu lượng hợp lệ.</a:t>
            </a:r>
            <a:endParaRPr lang="en-US" sz="1400" dirty="0"/>
          </a:p>
        </p:txBody>
      </p:sp>
      <p:sp>
        <p:nvSpPr>
          <p:cNvPr id="6" name="Text 3"/>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7A6E"/>
                </a:solidFill>
                <a:latin typeface="Arial" panose="020B0604020202020204" pitchFamily="34" charset="0"/>
                <a:ea typeface="Arial" panose="020B0604020202020204" pitchFamily="34" charset="-122"/>
                <a:cs typeface="Arial" panose="020B0604020202020204" pitchFamily="34" charset="-120"/>
              </a:rPr>
              <a:t>TỔNG HỢP</a:t>
            </a:r>
            <a:endParaRPr lang="en-US" sz="1200" dirty="0"/>
          </a:p>
        </p:txBody>
      </p:sp>
      <p:sp>
        <p:nvSpPr>
          <p:cNvPr id="3" name="Text 1"/>
          <p:cNvSpPr/>
          <p:nvPr>
            <p:ph type="title"/>
          </p:nvPr>
        </p:nvSpPr>
        <p:spPr>
          <a:xfrm>
            <a:off x="812800" y="1102320"/>
            <a:ext cx="10883392" cy="463550"/>
          </a:xfrm>
          <a:prstGeom prst="rect">
            <a:avLst/>
          </a:prstGeom>
          <a:noFill/>
        </p:spPr>
        <p:txBody>
          <a:bodyPr wrap="square" lIns="0" tIns="0" rIns="0" bIns="0" rtlCol="0" anchor="t">
            <a:normAutofit/>
          </a:bodyPr>
          <a:lstStyle/>
          <a:p>
            <a:pPr marL="0" indent="0" algn="l">
              <a:lnSpc>
                <a:spcPts val="3450"/>
              </a:lnSpc>
              <a:buNone/>
            </a:pPr>
            <a:r>
              <a:rPr lang="en-US" sz="3000" b="1" i="0" dirty="0">
                <a:solidFill>
                  <a:srgbClr val="1B2A38"/>
                </a:solidFill>
                <a:latin typeface="Arial" panose="020B0604020202020204" pitchFamily="34" charset="0"/>
                <a:ea typeface="Arial" panose="020B0604020202020204" pitchFamily="34" charset="-122"/>
                <a:cs typeface="Arial" panose="020B0604020202020204" pitchFamily="34" charset="-120"/>
              </a:rPr>
              <a:t>Checklist triển khai</a:t>
            </a:r>
            <a:endParaRPr lang="en-US" sz="3000" dirty="0"/>
          </a:p>
        </p:txBody>
      </p:sp>
      <p:sp>
        <p:nvSpPr>
          <p:cNvPr id="4" name="Shape 2"/>
          <p:cNvSpPr/>
          <p:nvPr/>
        </p:nvSpPr>
        <p:spPr>
          <a:xfrm>
            <a:off x="815975" y="1797645"/>
            <a:ext cx="3414183" cy="4041180"/>
          </a:xfrm>
          <a:prstGeom prst="roundRect">
            <a:avLst>
              <a:gd name="adj" fmla="val 2883"/>
            </a:avLst>
          </a:prstGeom>
          <a:solidFill>
            <a:srgbClr val="FFFFFF"/>
          </a:solidFill>
          <a:ln w="6350">
            <a:solidFill>
              <a:srgbClr val="DCE3E1"/>
            </a:solidFill>
            <a:prstDash val="solid"/>
          </a:ln>
        </p:spPr>
      </p:sp>
      <p:sp>
        <p:nvSpPr>
          <p:cNvPr id="5" name="Text 3"/>
          <p:cNvSpPr/>
          <p:nvPr/>
        </p:nvSpPr>
        <p:spPr>
          <a:xfrm>
            <a:off x="1020233" y="2001912"/>
            <a:ext cx="3095837"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B7A6E"/>
                </a:solidFill>
                <a:latin typeface="Arial" panose="020B0604020202020204" pitchFamily="34" charset="0"/>
                <a:ea typeface="Arial" panose="020B0604020202020204" pitchFamily="34" charset="-122"/>
                <a:cs typeface="Arial" panose="020B0604020202020204" pitchFamily="34" charset="-120"/>
              </a:rPr>
              <a:t>Máy chủ</a:t>
            </a:r>
            <a:endParaRPr lang="en-US" sz="1700" dirty="0"/>
          </a:p>
        </p:txBody>
      </p:sp>
      <p:sp>
        <p:nvSpPr>
          <p:cNvPr id="6" name="Text 4"/>
          <p:cNvSpPr/>
          <p:nvPr/>
        </p:nvSpPr>
        <p:spPr>
          <a:xfrm>
            <a:off x="1118277" y="2362535"/>
            <a:ext cx="2990173" cy="1180968"/>
          </a:xfrm>
          <a:prstGeom prst="rect">
            <a:avLst/>
          </a:prstGeom>
          <a:noFill/>
        </p:spPr>
        <p:txBody>
          <a:bodyPr wrap="square" lIns="0" tIns="0" rIns="0" bIns="0" rtlCol="0" anchor="t">
            <a:normAutofit/>
          </a:bodyPr>
          <a:lstStyle/>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Cập nhật HĐH và dịch vụ</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Tắt dịch vụ, đóng cổng thừa</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SSH dùng khóa, tắt root từ xa</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Quyền tối thiểu, mật khẩu mạnh</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Tường lửa, IDS/IPS, sao lưu</a:t>
            </a:r>
            <a:endParaRPr lang="en-US" sz="1300" dirty="0"/>
          </a:p>
        </p:txBody>
      </p:sp>
      <p:sp>
        <p:nvSpPr>
          <p:cNvPr id="7" name="Shape 5"/>
          <p:cNvSpPr/>
          <p:nvPr/>
        </p:nvSpPr>
        <p:spPr>
          <a:xfrm>
            <a:off x="4388908" y="1797645"/>
            <a:ext cx="3414183" cy="4041180"/>
          </a:xfrm>
          <a:prstGeom prst="roundRect">
            <a:avLst>
              <a:gd name="adj" fmla="val 2883"/>
            </a:avLst>
          </a:prstGeom>
          <a:solidFill>
            <a:srgbClr val="FFFFFF"/>
          </a:solidFill>
          <a:ln w="6350">
            <a:solidFill>
              <a:srgbClr val="DCE3E1"/>
            </a:solidFill>
            <a:prstDash val="solid"/>
          </a:ln>
        </p:spPr>
      </p:sp>
      <p:sp>
        <p:nvSpPr>
          <p:cNvPr id="8" name="Text 6"/>
          <p:cNvSpPr/>
          <p:nvPr/>
        </p:nvSpPr>
        <p:spPr>
          <a:xfrm>
            <a:off x="4593167" y="2001912"/>
            <a:ext cx="3095837"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B7A6E"/>
                </a:solidFill>
                <a:latin typeface="Arial" panose="020B0604020202020204" pitchFamily="34" charset="0"/>
                <a:ea typeface="Arial" panose="020B0604020202020204" pitchFamily="34" charset="-122"/>
                <a:cs typeface="Arial" panose="020B0604020202020204" pitchFamily="34" charset="-120"/>
              </a:rPr>
              <a:t>Web</a:t>
            </a:r>
            <a:endParaRPr lang="en-US" sz="1700" dirty="0"/>
          </a:p>
        </p:txBody>
      </p:sp>
      <p:sp>
        <p:nvSpPr>
          <p:cNvPr id="9" name="Text 7"/>
          <p:cNvSpPr/>
          <p:nvPr/>
        </p:nvSpPr>
        <p:spPr>
          <a:xfrm>
            <a:off x="4691211" y="2362535"/>
            <a:ext cx="2990173" cy="1180968"/>
          </a:xfrm>
          <a:prstGeom prst="rect">
            <a:avLst/>
          </a:prstGeom>
          <a:noFill/>
        </p:spPr>
        <p:txBody>
          <a:bodyPr wrap="square" lIns="0" tIns="0" rIns="0" bIns="0" rtlCol="0" anchor="t">
            <a:normAutofit/>
          </a:bodyPr>
          <a:lstStyle/>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HTTPS toàn trang, TLS 1.2+, HSTS</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Security header</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Truy vấn tham số hóa, CSRF token</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Cookie Secure, HttpOnly, SameSite</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WAF, giới hạn lần đăng nhập</a:t>
            </a:r>
            <a:endParaRPr lang="en-US" sz="1300" dirty="0"/>
          </a:p>
        </p:txBody>
      </p:sp>
      <p:sp>
        <p:nvSpPr>
          <p:cNvPr id="10" name="Shape 8"/>
          <p:cNvSpPr/>
          <p:nvPr/>
        </p:nvSpPr>
        <p:spPr>
          <a:xfrm>
            <a:off x="7961842" y="1797645"/>
            <a:ext cx="3414183" cy="4041180"/>
          </a:xfrm>
          <a:prstGeom prst="roundRect">
            <a:avLst>
              <a:gd name="adj" fmla="val 2883"/>
            </a:avLst>
          </a:prstGeom>
          <a:solidFill>
            <a:srgbClr val="FFFFFF"/>
          </a:solidFill>
          <a:ln w="6350">
            <a:solidFill>
              <a:srgbClr val="DCE3E1"/>
            </a:solidFill>
            <a:prstDash val="solid"/>
          </a:ln>
        </p:spPr>
      </p:sp>
      <p:sp>
        <p:nvSpPr>
          <p:cNvPr id="11" name="Text 9"/>
          <p:cNvSpPr/>
          <p:nvPr/>
        </p:nvSpPr>
        <p:spPr>
          <a:xfrm>
            <a:off x="8166100" y="2001912"/>
            <a:ext cx="3095837" cy="284427"/>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B7A6E"/>
                </a:solidFill>
                <a:latin typeface="Arial" panose="020B0604020202020204" pitchFamily="34" charset="0"/>
                <a:ea typeface="Arial" panose="020B0604020202020204" pitchFamily="34" charset="-122"/>
                <a:cs typeface="Arial" panose="020B0604020202020204" pitchFamily="34" charset="-120"/>
              </a:rPr>
              <a:t>Email</a:t>
            </a:r>
            <a:endParaRPr lang="en-US" sz="1700" dirty="0"/>
          </a:p>
        </p:txBody>
      </p:sp>
      <p:sp>
        <p:nvSpPr>
          <p:cNvPr id="12" name="Text 10"/>
          <p:cNvSpPr/>
          <p:nvPr/>
        </p:nvSpPr>
        <p:spPr>
          <a:xfrm>
            <a:off x="8264144" y="2362535"/>
            <a:ext cx="2990173" cy="1180968"/>
          </a:xfrm>
          <a:prstGeom prst="rect">
            <a:avLst/>
          </a:prstGeom>
          <a:noFill/>
        </p:spPr>
        <p:txBody>
          <a:bodyPr wrap="square" lIns="0" tIns="0" rIns="0" bIns="0" rtlCol="0" anchor="t">
            <a:normAutofit/>
          </a:bodyPr>
          <a:lstStyle/>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Bắt buộc TLS, không open relay</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SPF, DKIM, DMARC</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MFA cho hộp thư</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SEG và DLP</a:t>
            </a:r>
            <a:endParaRPr lang="en-US" sz="1300" dirty="0"/>
          </a:p>
          <a:p>
            <a:pPr marL="156210" indent="-156210" algn="l">
              <a:lnSpc>
                <a:spcPts val="1820"/>
              </a:lnSpc>
              <a:buSzPct val="100000"/>
              <a:buChar char="•"/>
            </a:pPr>
            <a:r>
              <a:rPr lang="en-US" sz="1300" dirty="0">
                <a:solidFill>
                  <a:srgbClr val="3C4A57"/>
                </a:solidFill>
                <a:latin typeface="Arial" panose="020B0604020202020204" pitchFamily="34" charset="0"/>
                <a:ea typeface="Arial" panose="020B0604020202020204" pitchFamily="34" charset="-122"/>
                <a:cs typeface="Arial" panose="020B0604020202020204" pitchFamily="34" charset="-120"/>
              </a:rPr>
              <a:t>Đào tạo nhận biết phishing</a:t>
            </a:r>
            <a:endParaRPr lang="en-US" sz="1300" dirty="0"/>
          </a:p>
        </p:txBody>
      </p:sp>
      <p:sp>
        <p:nvSpPr>
          <p:cNvPr id="13" name="Text 11"/>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7782"/>
                </a:solidFill>
                <a:latin typeface="Arial" panose="020B0604020202020204" pitchFamily="34" charset="0"/>
                <a:ea typeface="Arial" panose="020B0604020202020204" pitchFamily="34" charset="-122"/>
                <a:cs typeface="Arial" panose="020B0604020202020204" pitchFamily="34" charset="-120"/>
              </a:rPr>
              <a:t>Bảo mật máy chủ Web và Email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E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2DD4BF"/>
                </a:solidFill>
                <a:latin typeface="Arial" panose="020B0604020202020204" pitchFamily="34" charset="0"/>
                <a:ea typeface="Arial" panose="020B0604020202020204" pitchFamily="34" charset="-122"/>
                <a:cs typeface="Arial" panose="020B0604020202020204" pitchFamily="34" charset="-120"/>
              </a:rPr>
              <a:t>KẾT LUẬN</a:t>
            </a:r>
            <a:endParaRPr lang="en-US" sz="1400" dirty="0"/>
          </a:p>
        </p:txBody>
      </p:sp>
      <p:sp>
        <p:nvSpPr>
          <p:cNvPr id="3" name="Text 1"/>
          <p:cNvSpPr/>
          <p:nvPr>
            <p:ph type="title"/>
          </p:nvPr>
        </p:nvSpPr>
        <p:spPr>
          <a:xfrm>
            <a:off x="812800" y="1188715"/>
            <a:ext cx="9810750" cy="1198827"/>
          </a:xfrm>
          <a:prstGeom prst="rect">
            <a:avLst/>
          </a:prstGeom>
          <a:noFill/>
        </p:spPr>
        <p:txBody>
          <a:bodyPr wrap="square" lIns="0" tIns="0" rIns="0" bIns="0" rtlCol="0" anchor="t">
            <a:normAutofit/>
          </a:bodyPr>
          <a:lstStyle/>
          <a:p>
            <a:pPr marL="0" indent="0" algn="l">
              <a:lnSpc>
                <a:spcPts val="4620"/>
              </a:lnSpc>
              <a:buNone/>
            </a:pPr>
            <a:r>
              <a:rPr lang="en-US" sz="4200" b="1" i="0" dirty="0">
                <a:solidFill>
                  <a:srgbClr val="EAF1F6"/>
                </a:solidFill>
                <a:latin typeface="Arial" panose="020B0604020202020204" pitchFamily="34" charset="0"/>
                <a:ea typeface="Arial" panose="020B0604020202020204" pitchFamily="34" charset="-122"/>
                <a:cs typeface="Arial" panose="020B0604020202020204" pitchFamily="34" charset="-120"/>
              </a:rPr>
              <a:t>Phòng thủ nhiều lớp, không biện pháp đơn lẻ nào là đủ</a:t>
            </a:r>
            <a:endParaRPr lang="en-US" sz="4200" dirty="0"/>
          </a:p>
        </p:txBody>
      </p:sp>
      <p:sp>
        <p:nvSpPr>
          <p:cNvPr id="4" name="Shape 2"/>
          <p:cNvSpPr/>
          <p:nvPr/>
        </p:nvSpPr>
        <p:spPr>
          <a:xfrm>
            <a:off x="812800" y="3190280"/>
            <a:ext cx="2527300" cy="1468041"/>
          </a:xfrm>
          <a:prstGeom prst="roundRect">
            <a:avLst>
              <a:gd name="adj" fmla="val 6921"/>
            </a:avLst>
          </a:prstGeom>
          <a:solidFill>
            <a:srgbClr val="17283A"/>
          </a:solidFill>
        </p:spPr>
      </p:sp>
      <p:sp>
        <p:nvSpPr>
          <p:cNvPr id="5" name="Text 3"/>
          <p:cNvSpPr/>
          <p:nvPr/>
        </p:nvSpPr>
        <p:spPr>
          <a:xfrm>
            <a:off x="1016000" y="3393480"/>
            <a:ext cx="2184527" cy="523214"/>
          </a:xfrm>
          <a:prstGeom prst="rect">
            <a:avLst/>
          </a:prstGeom>
          <a:noFill/>
        </p:spPr>
        <p:txBody>
          <a:bodyPr wrap="square" lIns="0" tIns="0" rIns="0" bIns="0" rtlCol="0" anchor="t">
            <a:normAutofit/>
          </a:bodyPr>
          <a:lstStyle/>
          <a:p>
            <a:pPr marL="0" indent="0" algn="l">
              <a:lnSpc>
                <a:spcPts val="3920"/>
              </a:lnSpc>
              <a:buNone/>
            </a:pPr>
            <a:r>
              <a:rPr lang="en-US" sz="2800" b="1" dirty="0">
                <a:solidFill>
                  <a:srgbClr val="2DD4BF"/>
                </a:solidFill>
                <a:latin typeface="Arial" panose="020B0604020202020204" pitchFamily="34" charset="0"/>
                <a:ea typeface="Arial" panose="020B0604020202020204" pitchFamily="34" charset="-122"/>
                <a:cs typeface="Arial" panose="020B0604020202020204" pitchFamily="34" charset="-120"/>
              </a:rPr>
              <a:t>1</a:t>
            </a:r>
            <a:endParaRPr lang="en-US" sz="2800" dirty="0"/>
          </a:p>
        </p:txBody>
      </p:sp>
      <p:sp>
        <p:nvSpPr>
          <p:cNvPr id="6" name="Text 4"/>
          <p:cNvSpPr/>
          <p:nvPr/>
        </p:nvSpPr>
        <p:spPr>
          <a:xfrm>
            <a:off x="1016000" y="3967497"/>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EAF1F6"/>
                </a:solidFill>
                <a:latin typeface="Arial" panose="020B0604020202020204" pitchFamily="34" charset="0"/>
                <a:ea typeface="Arial" panose="020B0604020202020204" pitchFamily="34" charset="-122"/>
                <a:cs typeface="Arial" panose="020B0604020202020204" pitchFamily="34" charset="-120"/>
              </a:rPr>
              <a:t>Vá lỗi thường xuyên</a:t>
            </a:r>
            <a:endParaRPr lang="en-US" sz="1600" dirty="0"/>
          </a:p>
        </p:txBody>
      </p:sp>
      <p:sp>
        <p:nvSpPr>
          <p:cNvPr id="7" name="Shape 5"/>
          <p:cNvSpPr/>
          <p:nvPr/>
        </p:nvSpPr>
        <p:spPr>
          <a:xfrm>
            <a:off x="3492500" y="3190280"/>
            <a:ext cx="2527300" cy="1468041"/>
          </a:xfrm>
          <a:prstGeom prst="roundRect">
            <a:avLst>
              <a:gd name="adj" fmla="val 6921"/>
            </a:avLst>
          </a:prstGeom>
          <a:solidFill>
            <a:srgbClr val="17283A"/>
          </a:solidFill>
        </p:spPr>
      </p:sp>
      <p:sp>
        <p:nvSpPr>
          <p:cNvPr id="8" name="Text 6"/>
          <p:cNvSpPr/>
          <p:nvPr/>
        </p:nvSpPr>
        <p:spPr>
          <a:xfrm>
            <a:off x="3695700" y="3393480"/>
            <a:ext cx="2184527" cy="523214"/>
          </a:xfrm>
          <a:prstGeom prst="rect">
            <a:avLst/>
          </a:prstGeom>
          <a:noFill/>
        </p:spPr>
        <p:txBody>
          <a:bodyPr wrap="square" lIns="0" tIns="0" rIns="0" bIns="0" rtlCol="0" anchor="t">
            <a:normAutofit/>
          </a:bodyPr>
          <a:lstStyle/>
          <a:p>
            <a:pPr marL="0" indent="0" algn="l">
              <a:lnSpc>
                <a:spcPts val="3920"/>
              </a:lnSpc>
              <a:buNone/>
            </a:pPr>
            <a:r>
              <a:rPr lang="en-US" sz="2800" b="1" dirty="0">
                <a:solidFill>
                  <a:srgbClr val="2DD4BF"/>
                </a:solidFill>
                <a:latin typeface="Arial" panose="020B0604020202020204" pitchFamily="34" charset="0"/>
                <a:ea typeface="Arial" panose="020B0604020202020204" pitchFamily="34" charset="-122"/>
                <a:cs typeface="Arial" panose="020B0604020202020204" pitchFamily="34" charset="-120"/>
              </a:rPr>
              <a:t>2</a:t>
            </a:r>
            <a:endParaRPr lang="en-US" sz="2800" dirty="0"/>
          </a:p>
        </p:txBody>
      </p:sp>
      <p:sp>
        <p:nvSpPr>
          <p:cNvPr id="9" name="Text 7"/>
          <p:cNvSpPr/>
          <p:nvPr/>
        </p:nvSpPr>
        <p:spPr>
          <a:xfrm>
            <a:off x="3695700" y="3967497"/>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EAF1F6"/>
                </a:solidFill>
                <a:latin typeface="Arial" panose="020B0604020202020204" pitchFamily="34" charset="0"/>
                <a:ea typeface="Arial" panose="020B0604020202020204" pitchFamily="34" charset="-122"/>
                <a:cs typeface="Arial" panose="020B0604020202020204" pitchFamily="34" charset="-120"/>
              </a:rPr>
              <a:t>Bật MFA và TLS</a:t>
            </a:r>
            <a:endParaRPr lang="en-US" sz="1600" dirty="0"/>
          </a:p>
        </p:txBody>
      </p:sp>
      <p:sp>
        <p:nvSpPr>
          <p:cNvPr id="10" name="Shape 8"/>
          <p:cNvSpPr/>
          <p:nvPr/>
        </p:nvSpPr>
        <p:spPr>
          <a:xfrm>
            <a:off x="6172200" y="3190280"/>
            <a:ext cx="2527300" cy="1468041"/>
          </a:xfrm>
          <a:prstGeom prst="roundRect">
            <a:avLst>
              <a:gd name="adj" fmla="val 6921"/>
            </a:avLst>
          </a:prstGeom>
          <a:solidFill>
            <a:srgbClr val="17283A"/>
          </a:solidFill>
        </p:spPr>
      </p:sp>
      <p:sp>
        <p:nvSpPr>
          <p:cNvPr id="11" name="Text 9"/>
          <p:cNvSpPr/>
          <p:nvPr/>
        </p:nvSpPr>
        <p:spPr>
          <a:xfrm>
            <a:off x="6375400" y="3393480"/>
            <a:ext cx="2184527" cy="523214"/>
          </a:xfrm>
          <a:prstGeom prst="rect">
            <a:avLst/>
          </a:prstGeom>
          <a:noFill/>
        </p:spPr>
        <p:txBody>
          <a:bodyPr wrap="square" lIns="0" tIns="0" rIns="0" bIns="0" rtlCol="0" anchor="t">
            <a:normAutofit/>
          </a:bodyPr>
          <a:lstStyle/>
          <a:p>
            <a:pPr marL="0" indent="0" algn="l">
              <a:lnSpc>
                <a:spcPts val="3920"/>
              </a:lnSpc>
              <a:buNone/>
            </a:pPr>
            <a:r>
              <a:rPr lang="en-US" sz="2800" b="1" dirty="0">
                <a:solidFill>
                  <a:srgbClr val="2DD4BF"/>
                </a:solidFill>
                <a:latin typeface="Arial" panose="020B0604020202020204" pitchFamily="34" charset="0"/>
                <a:ea typeface="Arial" panose="020B0604020202020204" pitchFamily="34" charset="-122"/>
                <a:cs typeface="Arial" panose="020B0604020202020204" pitchFamily="34" charset="-120"/>
              </a:rPr>
              <a:t>3</a:t>
            </a:r>
            <a:endParaRPr lang="en-US" sz="2800" dirty="0"/>
          </a:p>
        </p:txBody>
      </p:sp>
      <p:sp>
        <p:nvSpPr>
          <p:cNvPr id="12" name="Text 10"/>
          <p:cNvSpPr/>
          <p:nvPr/>
        </p:nvSpPr>
        <p:spPr>
          <a:xfrm>
            <a:off x="6375400" y="3967497"/>
            <a:ext cx="2184527" cy="513027"/>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EAF1F6"/>
                </a:solidFill>
                <a:latin typeface="Arial" panose="020B0604020202020204" pitchFamily="34" charset="0"/>
                <a:ea typeface="Arial" panose="020B0604020202020204" pitchFamily="34" charset="-122"/>
                <a:cs typeface="Arial" panose="020B0604020202020204" pitchFamily="34" charset="-120"/>
              </a:rPr>
              <a:t>Sao lưu, thử khôi phục</a:t>
            </a:r>
            <a:endParaRPr lang="en-US" sz="1600" dirty="0"/>
          </a:p>
        </p:txBody>
      </p:sp>
      <p:sp>
        <p:nvSpPr>
          <p:cNvPr id="13" name="Shape 11"/>
          <p:cNvSpPr/>
          <p:nvPr/>
        </p:nvSpPr>
        <p:spPr>
          <a:xfrm>
            <a:off x="8851900" y="3190280"/>
            <a:ext cx="2527300" cy="1468041"/>
          </a:xfrm>
          <a:prstGeom prst="roundRect">
            <a:avLst>
              <a:gd name="adj" fmla="val 6921"/>
            </a:avLst>
          </a:prstGeom>
          <a:solidFill>
            <a:srgbClr val="17283A"/>
          </a:solidFill>
        </p:spPr>
      </p:sp>
      <p:sp>
        <p:nvSpPr>
          <p:cNvPr id="14" name="Text 12"/>
          <p:cNvSpPr/>
          <p:nvPr/>
        </p:nvSpPr>
        <p:spPr>
          <a:xfrm>
            <a:off x="9055100" y="3393480"/>
            <a:ext cx="2184527" cy="523214"/>
          </a:xfrm>
          <a:prstGeom prst="rect">
            <a:avLst/>
          </a:prstGeom>
          <a:noFill/>
        </p:spPr>
        <p:txBody>
          <a:bodyPr wrap="square" lIns="0" tIns="0" rIns="0" bIns="0" rtlCol="0" anchor="t">
            <a:normAutofit/>
          </a:bodyPr>
          <a:lstStyle/>
          <a:p>
            <a:pPr marL="0" indent="0" algn="l">
              <a:lnSpc>
                <a:spcPts val="3920"/>
              </a:lnSpc>
              <a:buNone/>
            </a:pPr>
            <a:r>
              <a:rPr lang="en-US" sz="2800" b="1" dirty="0">
                <a:solidFill>
                  <a:srgbClr val="2DD4BF"/>
                </a:solidFill>
                <a:latin typeface="Arial" panose="020B0604020202020204" pitchFamily="34" charset="0"/>
                <a:ea typeface="Arial" panose="020B0604020202020204" pitchFamily="34" charset="-122"/>
                <a:cs typeface="Arial" panose="020B0604020202020204" pitchFamily="34" charset="-120"/>
              </a:rPr>
              <a:t>4</a:t>
            </a:r>
            <a:endParaRPr lang="en-US" sz="2800" dirty="0"/>
          </a:p>
        </p:txBody>
      </p:sp>
      <p:sp>
        <p:nvSpPr>
          <p:cNvPr id="15" name="Text 13"/>
          <p:cNvSpPr/>
          <p:nvPr/>
        </p:nvSpPr>
        <p:spPr>
          <a:xfrm>
            <a:off x="9055100" y="3967497"/>
            <a:ext cx="2184527" cy="269214"/>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EAF1F6"/>
                </a:solidFill>
                <a:latin typeface="Arial" panose="020B0604020202020204" pitchFamily="34" charset="0"/>
                <a:ea typeface="Arial" panose="020B0604020202020204" pitchFamily="34" charset="-122"/>
                <a:cs typeface="Arial" panose="020B0604020202020204" pitchFamily="34" charset="-120"/>
              </a:rPr>
              <a:t>Đào tạo người dùng</a:t>
            </a:r>
            <a:endParaRPr lang="en-US" sz="1600" dirty="0"/>
          </a:p>
        </p:txBody>
      </p:sp>
      <p:sp>
        <p:nvSpPr>
          <p:cNvPr id="16" name="Text 14"/>
          <p:cNvSpPr/>
          <p:nvPr/>
        </p:nvSpPr>
        <p:spPr>
          <a:xfrm>
            <a:off x="812800" y="5486400"/>
            <a:ext cx="10883392" cy="381000"/>
          </a:xfrm>
          <a:prstGeom prst="rect">
            <a:avLst/>
          </a:prstGeom>
          <a:noFill/>
        </p:spPr>
        <p:txBody>
          <a:bodyPr wrap="square" lIns="0" tIns="0" rIns="0" bIns="0" rtlCol="0" anchor="t">
            <a:normAutofit/>
          </a:bodyPr>
          <a:lstStyle/>
          <a:p>
            <a:pPr marL="0" indent="0" algn="l">
              <a:lnSpc>
                <a:spcPts val="2800"/>
              </a:lnSpc>
              <a:buNone/>
            </a:pPr>
            <a:r>
              <a:rPr lang="en-US" sz="2000" b="1" dirty="0">
                <a:solidFill>
                  <a:srgbClr val="2DD4BF"/>
                </a:solidFill>
                <a:latin typeface="Arial" panose="020B0604020202020204" pitchFamily="34" charset="0"/>
                <a:ea typeface="Arial" panose="020B0604020202020204" pitchFamily="34" charset="-122"/>
                <a:cs typeface="Arial" panose="020B0604020202020204" pitchFamily="34" charset="-120"/>
              </a:rPr>
              <a:t>Cảm ơn đã lắng nghe</a:t>
            </a:r>
            <a:r>
              <a:rPr lang="vi-VN" altLang="en-US" sz="2000" b="1" dirty="0">
                <a:solidFill>
                  <a:srgbClr val="2DD4BF"/>
                </a:solidFill>
                <a:latin typeface="Arial" panose="020B0604020202020204" pitchFamily="34" charset="0"/>
                <a:ea typeface="Arial" panose="020B0604020202020204" pitchFamily="34" charset="-122"/>
                <a:cs typeface="Arial" panose="020B0604020202020204" pitchFamily="34" charset="-120"/>
              </a:rPr>
              <a:t> !</a:t>
            </a:r>
            <a:endParaRPr lang="vi-VN" altLang="en-US" sz="2000" b="1" dirty="0">
              <a:solidFill>
                <a:srgbClr val="2DD4BF"/>
              </a:solidFill>
              <a:latin typeface="Arial" panose="020B0604020202020204" pitchFamily="34" charset="0"/>
              <a:ea typeface="Arial" panose="020B0604020202020204" pitchFamily="34" charset="-122"/>
              <a:cs typeface="Arial" panose="020B0604020202020204" pitchFamily="34" charset="-120"/>
            </a:endParaRPr>
          </a:p>
        </p:txBody>
      </p:sp>
      <p:sp>
        <p:nvSpPr>
          <p:cNvPr id="17" name="Text 15"/>
          <p:cNvSpPr/>
          <p:nvPr/>
        </p:nvSpPr>
        <p:spPr>
          <a:xfrm>
            <a:off x="812800" y="6238280"/>
            <a:ext cx="1088339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3B5"/>
                </a:solidFill>
                <a:latin typeface="Arial" panose="020B0604020202020204" pitchFamily="34" charset="0"/>
                <a:ea typeface="Arial" panose="020B0604020202020204" pitchFamily="34" charset="-122"/>
                <a:cs typeface="Arial" panose="020B0604020202020204" pitchFamily="34" charset="-120"/>
              </a:rPr>
              <a:t>Bảo mật máy chủ Web và Email · 21</a:t>
            </a:r>
            <a:endParaRPr lang="en-US" sz="1200" dirty="0"/>
          </a:p>
        </p:txBody>
      </p:sp>
    </p:spTree>
  </p:cSld>
  <p:clrMapOvr>
    <a:masterClrMapping/>
  </p:clrMapOvr>
</p:sld>
</file>

<file path=ppt/theme/theme1.xml><?xml version="1.0" encoding="utf-8"?>
<a:theme xmlns:a="http://schemas.openxmlformats.org/drawingml/2006/main" name="Bảo mật máy chủ Web và Email">
  <a:themeElements>
    <a:clrScheme name="Bảo mật máy chủ Web và Email">
      <a:dk1>
        <a:srgbClr val="1B2A38"/>
      </a:dk1>
      <a:lt1>
        <a:srgbClr val="F4F6F5"/>
      </a:lt1>
      <a:dk2>
        <a:srgbClr val="515D67"/>
      </a:dk2>
      <a:lt2>
        <a:srgbClr val="DEE2E2"/>
      </a:lt2>
      <a:accent1>
        <a:srgbClr val="0B7A6E"/>
      </a:accent1>
      <a:accent2>
        <a:srgbClr val="2DD4BF"/>
      </a:accent2>
      <a:accent3>
        <a:srgbClr val="17475A"/>
      </a:accent3>
      <a:accent4>
        <a:srgbClr val="3C4A57"/>
      </a:accent4>
      <a:accent5>
        <a:srgbClr val="6A7782"/>
      </a:accent5>
      <a:accent6>
        <a:srgbClr val="B7C6D4"/>
      </a:accent6>
      <a:hlink>
        <a:srgbClr val="0563C1"/>
      </a:hlink>
      <a:folHlink>
        <a:srgbClr val="954F72"/>
      </a:folHlink>
    </a:clrScheme>
    <a:fontScheme name="Bảo mật máy chủ Web và Emai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ảo mật máy chủ Web và Email">
  <a:themeElements>
    <a:clrScheme name="Bảo mật máy chủ Web và Email">
      <a:dk1>
        <a:srgbClr val="1B2A38"/>
      </a:dk1>
      <a:lt1>
        <a:srgbClr val="F4F6F5"/>
      </a:lt1>
      <a:dk2>
        <a:srgbClr val="515D67"/>
      </a:dk2>
      <a:lt2>
        <a:srgbClr val="DEE2E2"/>
      </a:lt2>
      <a:accent1>
        <a:srgbClr val="0B7A6E"/>
      </a:accent1>
      <a:accent2>
        <a:srgbClr val="2DD4BF"/>
      </a:accent2>
      <a:accent3>
        <a:srgbClr val="17475A"/>
      </a:accent3>
      <a:accent4>
        <a:srgbClr val="3C4A57"/>
      </a:accent4>
      <a:accent5>
        <a:srgbClr val="6A7782"/>
      </a:accent5>
      <a:accent6>
        <a:srgbClr val="B7C6D4"/>
      </a:accent6>
      <a:hlink>
        <a:srgbClr val="0563C1"/>
      </a:hlink>
      <a:folHlink>
        <a:srgbClr val="954F72"/>
      </a:folHlink>
    </a:clrScheme>
    <a:fontScheme name="Bảo mật máy chủ Web và Emai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8870</Words>
  <Application>WPS Presentation</Application>
  <PresentationFormat>On-screen Show (16:9)</PresentationFormat>
  <Paragraphs>650</Paragraphs>
  <Slides>21</Slides>
  <Notes>21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Arial</vt:lpstr>
      <vt:lpstr>Arial</vt:lpstr>
      <vt:lpstr>Microsoft YaHei</vt:lpstr>
      <vt:lpstr>Arial Unicode MS</vt:lpstr>
      <vt:lpstr>Calibri</vt:lpstr>
      <vt:lpstr>Bảo mật máy chủ Web và Email</vt:lpstr>
      <vt:lpstr>Bảo mật máy chủ Web và Email</vt:lpstr>
      <vt:lpstr>Sáu phần của bài trình bày</vt:lpstr>
      <vt:lpstr>Vì sao Web và Email là mục tiêu hàng đầu</vt:lpstr>
      <vt:lpstr>Củng cố máy chủ là quá trình liên tục</vt:lpstr>
      <vt:lpstr>Kết nối máy chủ an toàn</vt:lpstr>
      <vt:lpstr>Quản lý người dùng và mật khẩu</vt:lpstr>
      <vt:lpstr>Mười biện pháp củng cố khác</vt:lpstr>
      <vt:lpstr>Chứng minh “bạn là ai” trước khi cấp quyền</vt:lpstr>
      <vt:lpstr>Bốn nhóm phương pháp xác thực</vt:lpstr>
      <vt:lpstr>Kerberos: xác thực bằng vé</vt:lpstr>
      <vt:lpstr>CHAP: bắt tay ba bước</vt:lpstr>
      <vt:lpstr>Session, cookie và cache</vt:lpstr>
      <vt:lpstr>Tấn công phổ biến và cách chống chính</vt:lpstr>
      <vt:lpstr>Phòng thủ nhiều lớp cho máy chủ Web</vt:lpstr>
      <vt:lpstr>SMTP gốc không xác thực người gửi</vt:lpstr>
      <vt:lpstr>Mã hóa thư: TLS và E2EE</vt:lpstr>
      <vt:lpstr>Xác thực nguồn gửi: SPF, DKIM, DMARC</vt:lpstr>
      <vt:lpstr>Handshake và các loại chứng chỉ</vt:lpstr>
      <vt:lpstr>Tường lửa, IDS, IPS và VPN</vt:lpstr>
      <vt:lpstr>Checklist triển khai</vt:lpstr>
      <vt:lpstr>Phòng thủ nhiều lớp, không biện pháp đơn lẻ nào là đủ</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Bảo mật máy chủ Web và Email</dc:title>
  <dc:creator/>
  <cp:lastModifiedBy>Admin</cp:lastModifiedBy>
  <cp:revision>2</cp:revision>
  <dcterms:created xsi:type="dcterms:W3CDTF">2026-10-19T03:59:00Z</dcterms:created>
  <dcterms:modified xsi:type="dcterms:W3CDTF">2026-10-19T04:04:28Z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56CB80D421A249708703B71AC01DDB7B_12</vt:lpwstr>
  </property>
  <property fmtid="{D5CDD505-2E9C-101B-9397-08002B2CF9AE}" pid="3" name="KSOProductBuildVer">
    <vt:lpwstr>2057-12.2.0.23206</vt:lpwstr>
  </property>
</Properties>
</file>